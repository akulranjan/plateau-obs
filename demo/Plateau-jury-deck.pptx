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Rectangle 1"/>
          <p:cNvSpPr/>
          <p:nvPr/>
        </p:nvSpPr>
        <p:spPr>
          <a:xfrm>
            <a:off x="658368" y="2286000"/>
            <a:ext cx="1463040" cy="38100"/>
          </a:xfrm>
          <a:prstGeom prst="rect">
            <a:avLst/>
          </a:prstGeom>
          <a:solidFill>
            <a:srgbClr val="B3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395728"/>
            <a:ext cx="10874959" cy="1188720"/>
          </a:xfrm>
          <a:prstGeom prst="rect">
            <a:avLst/>
          </a:prstGeom>
          <a:noFill/>
        </p:spPr>
        <p:txBody>
          <a:bodyPr wrap="square" lIns="0" rIns="0" tIns="0" bIns="0">
            <a:spAutoFit/>
          </a:bodyPr>
          <a:lstStyle/>
          <a:p>
            <a:pPr algn="l">
              <a:lnSpc>
                <a:spcPct val="125000"/>
              </a:lnSpc>
            </a:pPr>
            <a:r>
              <a:rPr sz="7600" b="1" spc="1672">
                <a:solidFill>
                  <a:srgbClr val="1C1B18"/>
                </a:solidFill>
                <a:latin typeface="Arial Narrow"/>
              </a:rPr>
              <a:t>PLATEAU</a:t>
            </a:r>
          </a:p>
        </p:txBody>
      </p:sp>
      <p:sp>
        <p:nvSpPr>
          <p:cNvPr id="4" name="TextBox 3"/>
          <p:cNvSpPr txBox="1"/>
          <p:nvPr/>
        </p:nvSpPr>
        <p:spPr>
          <a:xfrm>
            <a:off x="658368" y="3913632"/>
            <a:ext cx="10058400" cy="822960"/>
          </a:xfrm>
          <a:prstGeom prst="rect">
            <a:avLst/>
          </a:prstGeom>
          <a:noFill/>
        </p:spPr>
        <p:txBody>
          <a:bodyPr wrap="square" lIns="0" rIns="0" tIns="0" bIns="0">
            <a:spAutoFit/>
          </a:bodyPr>
          <a:lstStyle/>
          <a:p>
            <a:pPr algn="l">
              <a:lnSpc>
                <a:spcPct val="135000"/>
              </a:lnSpc>
            </a:pPr>
            <a:r>
              <a:rPr sz="2700" b="0">
                <a:solidFill>
                  <a:srgbClr val="4F4B42"/>
                </a:solidFill>
                <a:latin typeface="Arial Narrow"/>
              </a:rPr>
              <a:t>Every agent framework is racing toward autonomy.</a:t>
            </a:r>
          </a:p>
          <a:p>
            <a:pPr algn="l">
              <a:lnSpc>
                <a:spcPct val="135000"/>
              </a:lnSpc>
            </a:pPr>
            <a:r>
              <a:rPr sz="2700" b="0">
                <a:solidFill>
                  <a:srgbClr val="4F4B42"/>
                </a:solidFill>
                <a:latin typeface="Arial Narrow"/>
              </a:rPr>
              <a:t>None of them has a brake.</a:t>
            </a:r>
          </a:p>
        </p:txBody>
      </p:sp>
      <p:sp>
        <p:nvSpPr>
          <p:cNvPr id="5" name="Rectangle 4"/>
          <p:cNvSpPr/>
          <p:nvPr/>
        </p:nvSpPr>
        <p:spPr>
          <a:xfrm>
            <a:off x="658368" y="5120640"/>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303520"/>
            <a:ext cx="6858000" cy="822960"/>
          </a:xfrm>
          <a:prstGeom prst="rect">
            <a:avLst/>
          </a:prstGeom>
          <a:noFill/>
        </p:spPr>
        <p:txBody>
          <a:bodyPr wrap="square" lIns="0" rIns="0" tIns="0" bIns="0">
            <a:spAutoFit/>
          </a:bodyPr>
          <a:lstStyle/>
          <a:p>
            <a:pPr algn="l">
              <a:lnSpc>
                <a:spcPct val="150000"/>
              </a:lnSpc>
            </a:pPr>
            <a:r>
              <a:rPr sz="1400" b="0">
                <a:solidFill>
                  <a:srgbClr val="4F4B42"/>
                </a:solidFill>
                <a:latin typeface="Arial Narrow"/>
              </a:rPr>
              <a:t>Plateau is the brake — a control-plane primitive for autonomous agents</a:t>
            </a:r>
          </a:p>
          <a:p>
            <a:pPr algn="l">
              <a:lnSpc>
                <a:spcPct val="150000"/>
              </a:lnSpc>
            </a:pPr>
            <a:r>
              <a:rPr sz="1400" b="0">
                <a:solidFill>
                  <a:srgbClr val="4F4B42"/>
                </a:solidFill>
                <a:latin typeface="Arial Narrow"/>
              </a:rPr>
              <a:t>Team ABCD  ·  AI Safety and Observability</a:t>
            </a:r>
          </a:p>
        </p:txBody>
      </p:sp>
      <p:sp>
        <p:nvSpPr>
          <p:cNvPr id="7" name="TextBox 6"/>
          <p:cNvSpPr txBox="1"/>
          <p:nvPr/>
        </p:nvSpPr>
        <p:spPr>
          <a:xfrm>
            <a:off x="8522208" y="5303520"/>
            <a:ext cx="3017520" cy="822960"/>
          </a:xfrm>
          <a:prstGeom prst="rect">
            <a:avLst/>
          </a:prstGeom>
          <a:noFill/>
        </p:spPr>
        <p:txBody>
          <a:bodyPr wrap="square" lIns="0" rIns="0" tIns="0" bIns="0">
            <a:spAutoFit/>
          </a:bodyPr>
          <a:lstStyle/>
          <a:p>
            <a:pPr algn="l">
              <a:lnSpc>
                <a:spcPct val="150000"/>
              </a:lnSpc>
            </a:pPr>
            <a:r>
              <a:rPr sz="1200" b="0">
                <a:solidFill>
                  <a:srgbClr val="6E695C"/>
                </a:solidFill>
                <a:latin typeface="Consolas"/>
              </a:rPr>
              <a:t>Measured on 148 real agent traces</a:t>
            </a:r>
          </a:p>
          <a:p>
            <a:pPr algn="l">
              <a:lnSpc>
                <a:spcPct val="150000"/>
              </a:lnSpc>
            </a:pPr>
            <a:r>
              <a:rPr sz="1200" b="0">
                <a:solidFill>
                  <a:srgbClr val="6E695C"/>
                </a:solidFill>
                <a:latin typeface="Consolas"/>
              </a:rPr>
              <a:t>165 tests  ·  runs fully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PROBLEM</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Nothing you already run will catch this.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82496"/>
            <a:ext cx="5852160" cy="2194560"/>
          </a:xfrm>
          <a:prstGeom prst="rect">
            <a:avLst/>
          </a:prstGeom>
          <a:noFill/>
        </p:spPr>
        <p:txBody>
          <a:bodyPr wrap="square" lIns="0" rIns="0" tIns="0" bIns="0">
            <a:spAutoFit/>
          </a:bodyPr>
          <a:lstStyle/>
          <a:p>
            <a:pPr algn="l">
              <a:lnSpc>
                <a:spcPct val="145000"/>
              </a:lnSpc>
            </a:pPr>
            <a:r>
              <a:rPr sz="1700" b="0">
                <a:solidFill>
                  <a:srgbClr val="1C1B18"/>
                </a:solidFill>
                <a:latin typeface="Arial Narrow"/>
              </a:rPr>
              <a:t>An agent loops on the same dead end. It rephrases the request, calls the same tool, gets the same non-answer, and tries again.</a:t>
            </a:r>
          </a:p>
          <a:p>
            <a:pPr algn="l">
              <a:lnSpc>
                <a:spcPct val="145000"/>
              </a:lnSpc>
            </a:pPr>
            <a:r>
              <a:rPr sz="1700" b="0">
                <a:solidFill>
                  <a:srgbClr val="1C1B18"/>
                </a:solidFill>
                <a:latin typeface="Arial Narrow"/>
              </a:rPr>
              <a:t/>
            </a:r>
          </a:p>
          <a:p>
            <a:pPr algn="l">
              <a:lnSpc>
                <a:spcPct val="145000"/>
              </a:lnSpc>
            </a:pPr>
            <a:r>
              <a:rPr sz="1700" b="0">
                <a:solidFill>
                  <a:srgbClr val="1C1B18"/>
                </a:solidFill>
                <a:latin typeface="Arial Narrow"/>
              </a:rPr>
              <a:t>Every call returns 200 OK. Error rate zero. Latency normal. Every dashboard green.</a:t>
            </a:r>
          </a:p>
        </p:txBody>
      </p:sp>
      <p:sp>
        <p:nvSpPr>
          <p:cNvPr id="6" name="Rectangle 5"/>
          <p:cNvSpPr/>
          <p:nvPr/>
        </p:nvSpPr>
        <p:spPr>
          <a:xfrm>
            <a:off x="7059168" y="1682496"/>
            <a:ext cx="4480560" cy="228600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42048" y="1865376"/>
            <a:ext cx="4114800" cy="1828800"/>
          </a:xfrm>
          <a:prstGeom prst="rect">
            <a:avLst/>
          </a:prstGeom>
          <a:noFill/>
        </p:spPr>
        <p:txBody>
          <a:bodyPr wrap="square" lIns="0" rIns="0" tIns="0" bIns="0">
            <a:spAutoFit/>
          </a:bodyPr>
          <a:lstStyle/>
          <a:p>
            <a:pPr algn="l">
              <a:lnSpc>
                <a:spcPct val="160000"/>
              </a:lnSpc>
            </a:pPr>
            <a:r>
              <a:rPr sz="1400" b="0">
                <a:solidFill>
                  <a:srgbClr val="4F4B42"/>
                </a:solidFill>
                <a:latin typeface="Consolas"/>
              </a:rPr>
              <a:t>monitoring today answers</a:t>
            </a:r>
          </a:p>
          <a:p>
            <a:pPr algn="l">
              <a:lnSpc>
                <a:spcPct val="160000"/>
              </a:lnSpc>
            </a:pPr>
            <a:r>
              <a:rPr sz="1400" b="0">
                <a:solidFill>
                  <a:srgbClr val="4F4B42"/>
                </a:solidFill>
                <a:latin typeface="Consolas"/>
              </a:rPr>
              <a:t>   did the call succeed?</a:t>
            </a:r>
          </a:p>
          <a:p>
            <a:pPr algn="l">
              <a:lnSpc>
                <a:spcPct val="160000"/>
              </a:lnSpc>
            </a:pPr>
            <a:r>
              <a:rPr sz="1400" b="0">
                <a:solidFill>
                  <a:srgbClr val="4F4B42"/>
                </a:solidFill>
                <a:latin typeface="Consolas"/>
              </a:rPr>
              <a:t/>
            </a:r>
          </a:p>
          <a:p>
            <a:pPr algn="l">
              <a:lnSpc>
                <a:spcPct val="160000"/>
              </a:lnSpc>
            </a:pPr>
            <a:r>
              <a:rPr sz="1400" b="0">
                <a:solidFill>
                  <a:srgbClr val="4F4B42"/>
                </a:solidFill>
                <a:latin typeface="Consolas"/>
              </a:rPr>
              <a:t>nobody answers</a:t>
            </a:r>
          </a:p>
          <a:p>
            <a:pPr algn="l">
              <a:lnSpc>
                <a:spcPct val="160000"/>
              </a:lnSpc>
            </a:pPr>
            <a:r>
              <a:rPr sz="1400" b="0">
                <a:solidFill>
                  <a:srgbClr val="4F4B42"/>
                </a:solidFill>
                <a:latin typeface="Consolas"/>
              </a:rPr>
              <a:t>   is the sequence going anywhere?</a:t>
            </a:r>
          </a:p>
        </p:txBody>
      </p:sp>
      <p:sp>
        <p:nvSpPr>
          <p:cNvPr id="8" name="Rectangle 7"/>
          <p:cNvSpPr/>
          <p:nvPr/>
        </p:nvSpPr>
        <p:spPr>
          <a:xfrm>
            <a:off x="658368" y="428853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471416"/>
            <a:ext cx="10874959" cy="548640"/>
          </a:xfrm>
          <a:prstGeom prst="rect">
            <a:avLst/>
          </a:prstGeom>
          <a:noFill/>
        </p:spPr>
        <p:txBody>
          <a:bodyPr wrap="square" lIns="0" rIns="0" tIns="0" bIns="0">
            <a:spAutoFit/>
          </a:bodyPr>
          <a:lstStyle/>
          <a:p>
            <a:pPr algn="l">
              <a:lnSpc>
                <a:spcPct val="125000"/>
              </a:lnSpc>
            </a:pPr>
            <a:r>
              <a:rPr sz="2200" b="1">
                <a:solidFill>
                  <a:srgbClr val="B3221B"/>
                </a:solidFill>
                <a:latin typeface="Arial Narrow"/>
              </a:rPr>
              <a:t>The only thing that eventually notices is the invoice.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OPENING</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A control plane, not another dashboard.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8" cy="1920240"/>
        </p:xfrm>
        <a:graphic>
          <a:graphicData uri="http://schemas.openxmlformats.org/drawingml/2006/table">
            <a:tbl>
              <a:tblPr firstRow="1" bandRow="1">
                <a:tableStyleId>{5C22544A-7EE6-4342-B048-85BDC9FD1C3A}</a:tableStyleId>
              </a:tblPr>
              <a:tblGrid>
                <a:gridCol w="3044988"/>
                <a:gridCol w="3697486"/>
                <a:gridCol w="4132484"/>
              </a:tblGrid>
              <a:tr h="384048">
                <a:tc>
                  <a:txBody>
                    <a:bodyPr wrap="square"/>
                    <a:lstStyle/>
                    <a:p>
                      <a:pPr algn="l"/>
                      <a:r>
                        <a:rPr sz="1250" b="1">
                          <a:solidFill>
                            <a:srgbClr val="E6E3DA"/>
                          </a:solidFill>
                          <a:latin typeface="Arial Narrow"/>
                        </a:rPr>
                        <a:t/>
                      </a:r>
                    </a:p>
                  </a:txBody>
                  <a:tcPr marL="109728" marR="109728" marT="45720" marB="45720">
                    <a:solidFill>
                      <a:srgbClr val="1C1B18"/>
                    </a:solidFill>
                  </a:tcPr>
                </a:tc>
                <a:tc>
                  <a:txBody>
                    <a:bodyPr wrap="square"/>
                    <a:lstStyle/>
                    <a:p>
                      <a:pPr algn="l"/>
                      <a:r>
                        <a:rPr sz="1250" b="1">
                          <a:solidFill>
                            <a:srgbClr val="E6E3DA"/>
                          </a:solidFill>
                          <a:latin typeface="Arial Narrow"/>
                        </a:rPr>
                        <a:t>Observability today</a:t>
                      </a:r>
                    </a:p>
                  </a:txBody>
                  <a:tcPr marL="109728" marR="109728" marT="45720" marB="45720">
                    <a:solidFill>
                      <a:srgbClr val="1C1B18"/>
                    </a:solidFill>
                  </a:tcPr>
                </a:tc>
                <a:tc>
                  <a:txBody>
                    <a:bodyPr wrap="square"/>
                    <a:lstStyle/>
                    <a:p>
                      <a:pPr algn="l"/>
                      <a:r>
                        <a:rPr sz="1250" b="1">
                          <a:solidFill>
                            <a:srgbClr val="E6E3DA"/>
                          </a:solidFill>
                          <a:latin typeface="Arial Narrow"/>
                        </a:rPr>
                        <a:t>Plateau</a:t>
                      </a:r>
                    </a:p>
                  </a:txBody>
                  <a:tcPr marL="109728" marR="109728" marT="45720" marB="45720">
                    <a:solidFill>
                      <a:srgbClr val="1C1B18"/>
                    </a:solidFill>
                  </a:tcPr>
                </a:tc>
              </a:tr>
              <a:tr h="384048">
                <a:tc>
                  <a:txBody>
                    <a:bodyPr wrap="square"/>
                    <a:lstStyle/>
                    <a:p>
                      <a:pPr algn="l"/>
                      <a:r>
                        <a:rPr sz="1250" b="0">
                          <a:solidFill>
                            <a:srgbClr val="1C1B18"/>
                          </a:solidFill>
                          <a:latin typeface="Arial Narrow"/>
                        </a:rPr>
                        <a:t>When it acts</a:t>
                      </a:r>
                    </a:p>
                  </a:txBody>
                  <a:tcPr marL="109728" marR="109728" marT="45720" marB="45720">
                    <a:solidFill>
                      <a:srgbClr val="DCD7C9"/>
                    </a:solidFill>
                  </a:tcPr>
                </a:tc>
                <a:tc>
                  <a:txBody>
                    <a:bodyPr wrap="square"/>
                    <a:lstStyle/>
                    <a:p>
                      <a:pPr algn="r"/>
                      <a:r>
                        <a:rPr sz="1250" b="0">
                          <a:solidFill>
                            <a:srgbClr val="1C1B18"/>
                          </a:solidFill>
                          <a:latin typeface="Consolas"/>
                        </a:rPr>
                        <a:t>after the run</a:t>
                      </a:r>
                    </a:p>
                  </a:txBody>
                  <a:tcPr marL="109728" marR="109728" marT="45720" marB="45720">
                    <a:solidFill>
                      <a:srgbClr val="DCD7C9"/>
                    </a:solidFill>
                  </a:tcPr>
                </a:tc>
                <a:tc>
                  <a:txBody>
                    <a:bodyPr wrap="square"/>
                    <a:lstStyle/>
                    <a:p>
                      <a:pPr algn="r"/>
                      <a:r>
                        <a:rPr sz="1250" b="1">
                          <a:solidFill>
                            <a:srgbClr val="0E6F52"/>
                          </a:solidFill>
                          <a:latin typeface="Consolas"/>
                        </a:rPr>
                        <a:t>during the run</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What it produces</a:t>
                      </a:r>
                    </a:p>
                  </a:txBody>
                  <a:tcPr marL="109728" marR="109728" marT="45720" marB="45720">
                    <a:solidFill>
                      <a:srgbClr val="E6E3DA"/>
                    </a:solidFill>
                  </a:tcPr>
                </a:tc>
                <a:tc>
                  <a:txBody>
                    <a:bodyPr wrap="square"/>
                    <a:lstStyle/>
                    <a:p>
                      <a:pPr algn="r"/>
                      <a:r>
                        <a:rPr sz="1250" b="0">
                          <a:solidFill>
                            <a:srgbClr val="1C1B18"/>
                          </a:solidFill>
                          <a:latin typeface="Consolas"/>
                        </a:rPr>
                        <a:t>a trace you read</a:t>
                      </a:r>
                    </a:p>
                  </a:txBody>
                  <a:tcPr marL="109728" marR="109728" marT="45720" marB="45720">
                    <a:solidFill>
                      <a:srgbClr val="E6E3DA"/>
                    </a:solidFill>
                  </a:tcPr>
                </a:tc>
                <a:tc>
                  <a:txBody>
                    <a:bodyPr wrap="square"/>
                    <a:lstStyle/>
                    <a:p>
                      <a:pPr algn="r"/>
                      <a:r>
                        <a:rPr sz="1250" b="1">
                          <a:solidFill>
                            <a:srgbClr val="0E6F52"/>
                          </a:solidFill>
                          <a:latin typeface="Consolas"/>
                        </a:rPr>
                        <a:t>a decision the agent obeys</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Failure it addresses</a:t>
                      </a:r>
                    </a:p>
                  </a:txBody>
                  <a:tcPr marL="109728" marR="109728" marT="45720" marB="45720">
                    <a:solidFill>
                      <a:srgbClr val="DCD7C9"/>
                    </a:solidFill>
                  </a:tcPr>
                </a:tc>
                <a:tc>
                  <a:txBody>
                    <a:bodyPr wrap="square"/>
                    <a:lstStyle/>
                    <a:p>
                      <a:pPr algn="r"/>
                      <a:r>
                        <a:rPr sz="1250" b="0">
                          <a:solidFill>
                            <a:srgbClr val="1C1B18"/>
                          </a:solidFill>
                          <a:latin typeface="Consolas"/>
                        </a:rPr>
                        <a:t>you didn't know</a:t>
                      </a:r>
                    </a:p>
                  </a:txBody>
                  <a:tcPr marL="109728" marR="109728" marT="45720" marB="45720">
                    <a:solidFill>
                      <a:srgbClr val="DCD7C9"/>
                    </a:solidFill>
                  </a:tcPr>
                </a:tc>
                <a:tc>
                  <a:txBody>
                    <a:bodyPr wrap="square"/>
                    <a:lstStyle/>
                    <a:p>
                      <a:pPr algn="r"/>
                      <a:r>
                        <a:rPr sz="1250" b="1">
                          <a:solidFill>
                            <a:srgbClr val="0E6F52"/>
                          </a:solidFill>
                          <a:latin typeface="Consolas"/>
                        </a:rPr>
                        <a:t>it kept going</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Budget line</a:t>
                      </a:r>
                    </a:p>
                  </a:txBody>
                  <a:tcPr marL="109728" marR="109728" marT="45720" marB="45720">
                    <a:solidFill>
                      <a:srgbClr val="E6E3DA"/>
                    </a:solidFill>
                  </a:tcPr>
                </a:tc>
                <a:tc>
                  <a:txBody>
                    <a:bodyPr wrap="square"/>
                    <a:lstStyle/>
                    <a:p>
                      <a:pPr algn="r"/>
                      <a:r>
                        <a:rPr sz="1250" b="0">
                          <a:solidFill>
                            <a:srgbClr val="1C1B18"/>
                          </a:solidFill>
                          <a:latin typeface="Consolas"/>
                        </a:rPr>
                        <a:t>monitoring</a:t>
                      </a:r>
                    </a:p>
                  </a:txBody>
                  <a:tcPr marL="109728" marR="109728" marT="45720" marB="45720">
                    <a:solidFill>
                      <a:srgbClr val="E6E3DA"/>
                    </a:solidFill>
                  </a:tcPr>
                </a:tc>
                <a:tc>
                  <a:txBody>
                    <a:bodyPr wrap="square"/>
                    <a:lstStyle/>
                    <a:p>
                      <a:pPr algn="r"/>
                      <a:r>
                        <a:rPr sz="1250" b="1">
                          <a:solidFill>
                            <a:srgbClr val="0E6F52"/>
                          </a:solidFill>
                          <a:latin typeface="Consolas"/>
                        </a:rPr>
                        <a:t>reliability / cost control</a:t>
                      </a:r>
                    </a:p>
                  </a:txBody>
                  <a:tcPr marL="109728" marR="109728" marT="45720" marB="45720">
                    <a:solidFill>
                      <a:srgbClr val="E6E3DA"/>
                    </a:solidFill>
                  </a:tcPr>
                </a:tc>
              </a:tr>
            </a:tbl>
          </a:graphicData>
        </a:graphic>
      </p:graphicFrame>
      <p:sp>
        <p:nvSpPr>
          <p:cNvPr id="6" name="TextBox 5"/>
          <p:cNvSpPr txBox="1"/>
          <p:nvPr/>
        </p:nvSpPr>
        <p:spPr>
          <a:xfrm>
            <a:off x="658368" y="3831336"/>
            <a:ext cx="10874959" cy="914400"/>
          </a:xfrm>
          <a:prstGeom prst="rect">
            <a:avLst/>
          </a:prstGeom>
          <a:noFill/>
        </p:spPr>
        <p:txBody>
          <a:bodyPr wrap="square" lIns="0" rIns="0" tIns="0" bIns="0">
            <a:spAutoFit/>
          </a:bodyPr>
          <a:lstStyle/>
          <a:p>
            <a:pPr algn="l">
              <a:lnSpc>
                <a:spcPct val="145000"/>
              </a:lnSpc>
            </a:pPr>
            <a:r>
              <a:rPr sz="1500" b="0">
                <a:solidFill>
                  <a:srgbClr val="1C1B18"/>
                </a:solidFill>
                <a:latin typeface="Arial Narrow"/>
              </a:rPr>
              <a:t>Roughly a billion dollars of capital has gone into telling teams what their agents did. Almost none has gone into stopping an agent mid-failure — because the two need different architectures: post-hoc trace ingestion versus an in-loop decision on a millisecond budget.</a:t>
            </a:r>
          </a:p>
        </p:txBody>
      </p:sp>
      <p:sp>
        <p:nvSpPr>
          <p:cNvPr id="7" name="Rectangle 6"/>
          <p:cNvSpPr/>
          <p:nvPr/>
        </p:nvSpPr>
        <p:spPr>
          <a:xfrm>
            <a:off x="658368" y="47914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974336"/>
            <a:ext cx="10874959" cy="548640"/>
          </a:xfrm>
          <a:prstGeom prst="rect">
            <a:avLst/>
          </a:prstGeom>
          <a:noFill/>
        </p:spPr>
        <p:txBody>
          <a:bodyPr wrap="square" lIns="0" rIns="0" tIns="0" bIns="0">
            <a:spAutoFit/>
          </a:bodyPr>
          <a:lstStyle/>
          <a:p>
            <a:pPr algn="l">
              <a:lnSpc>
                <a:spcPct val="135000"/>
              </a:lnSpc>
            </a:pPr>
            <a:r>
              <a:rPr sz="1600" b="1">
                <a:solidFill>
                  <a:srgbClr val="1C1B18"/>
                </a:solidFill>
                <a:latin typeface="Arial Narrow"/>
              </a:rPr>
              <a:t>The observability vendors are our distribution, not our rivals. We emit OTel spans and appear inside whatever they already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IT WORKS — MEASURED, NOT PROJECTED</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Two laptops. Two real agents. One impossible task.</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7" cy="2304288"/>
        </p:xfrm>
        <a:graphic>
          <a:graphicData uri="http://schemas.openxmlformats.org/drawingml/2006/table">
            <a:tbl>
              <a:tblPr firstRow="1" bandRow="1">
                <a:tableStyleId>{5C22544A-7EE6-4342-B048-85BDC9FD1C3A}</a:tableStyleId>
              </a:tblPr>
              <a:tblGrid>
                <a:gridCol w="5002481"/>
                <a:gridCol w="2936238"/>
                <a:gridCol w="2936238"/>
              </a:tblGrid>
              <a:tr h="384048">
                <a:tc>
                  <a:txBody>
                    <a:bodyPr wrap="square"/>
                    <a:lstStyle/>
                    <a:p>
                      <a:pPr algn="l"/>
                      <a:r>
                        <a:rPr sz="1250" b="1">
                          <a:solidFill>
                            <a:srgbClr val="E6E3DA"/>
                          </a:solidFill>
                          <a:latin typeface="Arial Narrow"/>
                        </a:rPr>
                        <a:t/>
                      </a:r>
                    </a:p>
                  </a:txBody>
                  <a:tcPr marL="109728" marR="109728" marT="45720" marB="45720">
                    <a:solidFill>
                      <a:srgbClr val="1C1B18"/>
                    </a:solidFill>
                  </a:tcPr>
                </a:tc>
                <a:tc>
                  <a:txBody>
                    <a:bodyPr wrap="square"/>
                    <a:lstStyle/>
                    <a:p>
                      <a:pPr algn="l"/>
                      <a:r>
                        <a:rPr sz="1250" b="1">
                          <a:solidFill>
                            <a:srgbClr val="E6E3DA"/>
                          </a:solidFill>
                          <a:latin typeface="Arial Narrow"/>
                        </a:rPr>
                        <a:t>Unguarded</a:t>
                      </a:r>
                    </a:p>
                  </a:txBody>
                  <a:tcPr marL="109728" marR="109728" marT="45720" marB="45720">
                    <a:solidFill>
                      <a:srgbClr val="1C1B18"/>
                    </a:solidFill>
                  </a:tcPr>
                </a:tc>
                <a:tc>
                  <a:txBody>
                    <a:bodyPr wrap="square"/>
                    <a:lstStyle/>
                    <a:p>
                      <a:pPr algn="l"/>
                      <a:r>
                        <a:rPr sz="1250" b="1">
                          <a:solidFill>
                            <a:srgbClr val="E6E3DA"/>
                          </a:solidFill>
                          <a:latin typeface="Arial Narrow"/>
                        </a:rPr>
                        <a:t>With Plateau</a:t>
                      </a:r>
                    </a:p>
                  </a:txBody>
                  <a:tcPr marL="109728" marR="109728" marT="45720" marB="45720">
                    <a:solidFill>
                      <a:srgbClr val="1C1B18"/>
                    </a:solidFill>
                  </a:tcPr>
                </a:tc>
              </a:tr>
              <a:tr h="384048">
                <a:tc>
                  <a:txBody>
                    <a:bodyPr wrap="square"/>
                    <a:lstStyle/>
                    <a:p>
                      <a:pPr algn="l"/>
                      <a:r>
                        <a:rPr sz="1250" b="0">
                          <a:solidFill>
                            <a:srgbClr val="1C1B18"/>
                          </a:solidFill>
                          <a:latin typeface="Arial Narrow"/>
                        </a:rPr>
                        <a:t>Turns that reached a tool</a:t>
                      </a:r>
                    </a:p>
                  </a:txBody>
                  <a:tcPr marL="109728" marR="109728" marT="45720" marB="45720">
                    <a:solidFill>
                      <a:srgbClr val="DCD7C9"/>
                    </a:solidFill>
                  </a:tcPr>
                </a:tc>
                <a:tc>
                  <a:txBody>
                    <a:bodyPr wrap="square"/>
                    <a:lstStyle/>
                    <a:p>
                      <a:pPr algn="r"/>
                      <a:r>
                        <a:rPr sz="1250" b="0">
                          <a:solidFill>
                            <a:srgbClr val="1C1B18"/>
                          </a:solidFill>
                          <a:latin typeface="Consolas"/>
                        </a:rPr>
                        <a:t>25</a:t>
                      </a:r>
                    </a:p>
                  </a:txBody>
                  <a:tcPr marL="109728" marR="109728" marT="45720" marB="45720">
                    <a:solidFill>
                      <a:srgbClr val="DCD7C9"/>
                    </a:solidFill>
                  </a:tcPr>
                </a:tc>
                <a:tc>
                  <a:txBody>
                    <a:bodyPr wrap="square"/>
                    <a:lstStyle/>
                    <a:p>
                      <a:pPr algn="r"/>
                      <a:r>
                        <a:rPr sz="1250" b="1">
                          <a:solidFill>
                            <a:srgbClr val="0E6F52"/>
                          </a:solidFill>
                          <a:latin typeface="Consolas"/>
                        </a:rPr>
                        <a:t>16</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Turns refused before reaching a tool</a:t>
                      </a:r>
                    </a:p>
                  </a:txBody>
                  <a:tcPr marL="109728" marR="109728" marT="45720" marB="45720">
                    <a:solidFill>
                      <a:srgbClr val="E6E3DA"/>
                    </a:solidFill>
                  </a:tcPr>
                </a:tc>
                <a:tc>
                  <a:txBody>
                    <a:bodyPr wrap="square"/>
                    <a:lstStyle/>
                    <a:p>
                      <a:pPr algn="r"/>
                      <a:r>
                        <a:rPr sz="1250" b="0">
                          <a:solidFill>
                            <a:srgbClr val="1C1B18"/>
                          </a:solidFill>
                          <a:latin typeface="Consolas"/>
                        </a:rPr>
                        <a:t>0</a:t>
                      </a:r>
                    </a:p>
                  </a:txBody>
                  <a:tcPr marL="109728" marR="109728" marT="45720" marB="45720">
                    <a:solidFill>
                      <a:srgbClr val="E6E3DA"/>
                    </a:solidFill>
                  </a:tcPr>
                </a:tc>
                <a:tc>
                  <a:txBody>
                    <a:bodyPr wrap="square"/>
                    <a:lstStyle/>
                    <a:p>
                      <a:pPr algn="r"/>
                      <a:r>
                        <a:rPr sz="1250" b="1">
                          <a:solidFill>
                            <a:srgbClr val="0E6F52"/>
                          </a:solidFill>
                          <a:latin typeface="Consolas"/>
                        </a:rPr>
                        <a:t>9</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Turns returning an answer already seen</a:t>
                      </a:r>
                    </a:p>
                  </a:txBody>
                  <a:tcPr marL="109728" marR="109728" marT="45720" marB="45720">
                    <a:solidFill>
                      <a:srgbClr val="DCD7C9"/>
                    </a:solidFill>
                  </a:tcPr>
                </a:tc>
                <a:tc>
                  <a:txBody>
                    <a:bodyPr wrap="square"/>
                    <a:lstStyle/>
                    <a:p>
                      <a:pPr algn="r"/>
                      <a:r>
                        <a:rPr sz="1250" b="1">
                          <a:solidFill>
                            <a:srgbClr val="B3221B"/>
                          </a:solidFill>
                          <a:latin typeface="Consolas"/>
                        </a:rPr>
                        <a:t>16</a:t>
                      </a:r>
                    </a:p>
                  </a:txBody>
                  <a:tcPr marL="109728" marR="109728" marT="45720" marB="45720">
                    <a:solidFill>
                      <a:srgbClr val="DCD7C9"/>
                    </a:solidFill>
                  </a:tcPr>
                </a:tc>
                <a:tc>
                  <a:txBody>
                    <a:bodyPr wrap="square"/>
                    <a:lstStyle/>
                    <a:p>
                      <a:pPr algn="r"/>
                      <a:r>
                        <a:rPr sz="1250" b="1">
                          <a:solidFill>
                            <a:srgbClr val="0E6F52"/>
                          </a:solidFill>
                          <a:latin typeface="Consolas"/>
                        </a:rPr>
                        <a:t>8</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Tokens (est., 1,850/turn)</a:t>
                      </a:r>
                    </a:p>
                  </a:txBody>
                  <a:tcPr marL="109728" marR="109728" marT="45720" marB="45720">
                    <a:solidFill>
                      <a:srgbClr val="E6E3DA"/>
                    </a:solidFill>
                  </a:tcPr>
                </a:tc>
                <a:tc>
                  <a:txBody>
                    <a:bodyPr wrap="square"/>
                    <a:lstStyle/>
                    <a:p>
                      <a:pPr algn="r"/>
                      <a:r>
                        <a:rPr sz="1250" b="0">
                          <a:solidFill>
                            <a:srgbClr val="1C1B18"/>
                          </a:solidFill>
                          <a:latin typeface="Consolas"/>
                        </a:rPr>
                        <a:t>46,250</a:t>
                      </a:r>
                    </a:p>
                  </a:txBody>
                  <a:tcPr marL="109728" marR="109728" marT="45720" marB="45720">
                    <a:solidFill>
                      <a:srgbClr val="E6E3DA"/>
                    </a:solidFill>
                  </a:tcPr>
                </a:tc>
                <a:tc>
                  <a:txBody>
                    <a:bodyPr wrap="square"/>
                    <a:lstStyle/>
                    <a:p>
                      <a:pPr algn="r"/>
                      <a:r>
                        <a:rPr sz="1250" b="1">
                          <a:solidFill>
                            <a:srgbClr val="0E6F52"/>
                          </a:solidFill>
                          <a:latin typeface="Consolas"/>
                        </a:rPr>
                        <a:t>29,600</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Stopped by</a:t>
                      </a:r>
                    </a:p>
                  </a:txBody>
                  <a:tcPr marL="109728" marR="109728" marT="45720" marB="45720">
                    <a:solidFill>
                      <a:srgbClr val="DCD7C9"/>
                    </a:solidFill>
                  </a:tcPr>
                </a:tc>
                <a:tc>
                  <a:txBody>
                    <a:bodyPr wrap="square"/>
                    <a:lstStyle/>
                    <a:p>
                      <a:pPr algn="r"/>
                      <a:r>
                        <a:rPr sz="1250" b="0">
                          <a:solidFill>
                            <a:srgbClr val="B3221B"/>
                          </a:solidFill>
                          <a:latin typeface="Consolas"/>
                        </a:rPr>
                        <a:t>we stopped it</a:t>
                      </a:r>
                    </a:p>
                  </a:txBody>
                  <a:tcPr marL="109728" marR="109728" marT="45720" marB="45720">
                    <a:solidFill>
                      <a:srgbClr val="DCD7C9"/>
                    </a:solidFill>
                  </a:tcPr>
                </a:tc>
                <a:tc>
                  <a:txBody>
                    <a:bodyPr wrap="square"/>
                    <a:lstStyle/>
                    <a:p>
                      <a:pPr algn="r"/>
                      <a:r>
                        <a:rPr sz="1250" b="1">
                          <a:solidFill>
                            <a:srgbClr val="0E6F52"/>
                          </a:solidFill>
                          <a:latin typeface="Consolas"/>
                        </a:rPr>
                        <a:t>itself, turn 12</a:t>
                      </a:r>
                    </a:p>
                  </a:txBody>
                  <a:tcPr marL="109728" marR="109728" marT="45720" marB="45720">
                    <a:solidFill>
                      <a:srgbClr val="DCD7C9"/>
                    </a:solidFill>
                  </a:tcPr>
                </a:tc>
              </a:tr>
            </a:tbl>
          </a:graphicData>
        </a:graphic>
      </p:graphicFrame>
      <p:sp>
        <p:nvSpPr>
          <p:cNvPr id="6" name="TextBox 5"/>
          <p:cNvSpPr txBox="1"/>
          <p:nvPr/>
        </p:nvSpPr>
        <p:spPr>
          <a:xfrm>
            <a:off x="658368" y="4133088"/>
            <a:ext cx="1737360" cy="182880"/>
          </a:xfrm>
          <a:prstGeom prst="rect">
            <a:avLst/>
          </a:prstGeom>
          <a:noFill/>
        </p:spPr>
        <p:txBody>
          <a:bodyPr wrap="square" lIns="0" rIns="0" tIns="0" bIns="0">
            <a:spAutoFit/>
          </a:bodyPr>
          <a:lstStyle/>
          <a:p>
            <a:pPr algn="l">
              <a:lnSpc>
                <a:spcPct val="125000"/>
              </a:lnSpc>
            </a:pPr>
            <a:r>
              <a:rPr sz="900" b="1" spc="126">
                <a:solidFill>
                  <a:srgbClr val="1C1B18"/>
                </a:solidFill>
                <a:latin typeface="Arial Narrow"/>
              </a:rPr>
              <a:t>MEASURED</a:t>
            </a:r>
          </a:p>
        </p:txBody>
      </p:sp>
      <p:sp>
        <p:nvSpPr>
          <p:cNvPr id="7" name="TextBox 6"/>
          <p:cNvSpPr txBox="1"/>
          <p:nvPr/>
        </p:nvSpPr>
        <p:spPr>
          <a:xfrm>
            <a:off x="658368" y="4352544"/>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Same model, same tools, same task, one machine, back to back. NOT bit-reproducible: llama3.1:8b does not fit this GPU, so ollama splits it and the split moves — different arithmetic, different sampled token, even at temperature 0 with a fixed seed. Read the numbers on screen, not from this slide. The unguarded agent did not finish; it hit a cap we imposed. Left alone it does not stop.</a:t>
            </a:r>
          </a:p>
        </p:txBody>
      </p:sp>
      <p:sp>
        <p:nvSpPr>
          <p:cNvPr id="8" name="Rectangle 7"/>
          <p:cNvSpPr/>
          <p:nvPr/>
        </p:nvSpPr>
        <p:spPr>
          <a:xfrm>
            <a:off x="658368" y="492861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111496"/>
            <a:ext cx="10874959" cy="548640"/>
          </a:xfrm>
          <a:prstGeom prst="rect">
            <a:avLst/>
          </a:prstGeom>
          <a:noFill/>
        </p:spPr>
        <p:txBody>
          <a:bodyPr wrap="square" lIns="0" rIns="0" tIns="0" bIns="0">
            <a:spAutoFit/>
          </a:bodyPr>
          <a:lstStyle/>
          <a:p>
            <a:pPr algn="l">
              <a:lnSpc>
                <a:spcPct val="125000"/>
              </a:lnSpc>
            </a:pPr>
            <a:r>
              <a:rPr sz="2600" b="1">
                <a:solidFill>
                  <a:srgbClr val="1C1B18"/>
                </a:solidFill>
                <a:latin typeface="Arial Narrow"/>
              </a:rPr>
              <a:t>Half the tokens, and it stopped on its 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THE NUMBER THAT MAKES IT INSTALLABLE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One turn.</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338328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10512"/>
            <a:ext cx="310896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COST OF A FALSE TRIP</a:t>
            </a:r>
          </a:p>
        </p:txBody>
      </p:sp>
      <p:sp>
        <p:nvSpPr>
          <p:cNvPr id="7" name="TextBox 6"/>
          <p:cNvSpPr txBox="1"/>
          <p:nvPr/>
        </p:nvSpPr>
        <p:spPr>
          <a:xfrm>
            <a:off x="804672" y="2048256"/>
            <a:ext cx="3108960"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1 turn</a:t>
            </a:r>
          </a:p>
        </p:txBody>
      </p:sp>
      <p:sp>
        <p:nvSpPr>
          <p:cNvPr id="8" name="TextBox 7"/>
          <p:cNvSpPr txBox="1"/>
          <p:nvPr/>
        </p:nvSpPr>
        <p:spPr>
          <a:xfrm>
            <a:off x="804672" y="2551176"/>
            <a:ext cx="310896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open, one probe, back to closed</a:t>
            </a:r>
          </a:p>
        </p:txBody>
      </p:sp>
      <p:sp>
        <p:nvSpPr>
          <p:cNvPr id="9" name="Rectangle 8"/>
          <p:cNvSpPr/>
          <p:nvPr/>
        </p:nvSpPr>
        <p:spPr>
          <a:xfrm>
            <a:off x="4315968" y="1682496"/>
            <a:ext cx="338328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1810512"/>
            <a:ext cx="310896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EVERY SHIPPED ALTERNATIVE</a:t>
            </a:r>
          </a:p>
        </p:txBody>
      </p:sp>
      <p:sp>
        <p:nvSpPr>
          <p:cNvPr id="11" name="TextBox 10"/>
          <p:cNvSpPr txBox="1"/>
          <p:nvPr/>
        </p:nvSpPr>
        <p:spPr>
          <a:xfrm>
            <a:off x="4462272" y="2048256"/>
            <a:ext cx="3108960" cy="457200"/>
          </a:xfrm>
          <a:prstGeom prst="rect">
            <a:avLst/>
          </a:prstGeom>
          <a:noFill/>
        </p:spPr>
        <p:txBody>
          <a:bodyPr wrap="square" lIns="0" rIns="0" tIns="0" bIns="0">
            <a:spAutoFit/>
          </a:bodyPr>
          <a:lstStyle/>
          <a:p>
            <a:pPr algn="l">
              <a:lnSpc>
                <a:spcPct val="125000"/>
              </a:lnSpc>
            </a:pPr>
            <a:r>
              <a:rPr sz="3000" b="1">
                <a:solidFill>
                  <a:srgbClr val="B3221B"/>
                </a:solidFill>
                <a:latin typeface="Consolas"/>
              </a:rPr>
              <a:t>the run</a:t>
            </a:r>
          </a:p>
        </p:txBody>
      </p:sp>
      <p:sp>
        <p:nvSpPr>
          <p:cNvPr id="12" name="TextBox 11"/>
          <p:cNvSpPr txBox="1"/>
          <p:nvPr/>
        </p:nvSpPr>
        <p:spPr>
          <a:xfrm>
            <a:off x="4462272" y="2551176"/>
            <a:ext cx="310896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killed outright</a:t>
            </a:r>
          </a:p>
        </p:txBody>
      </p:sp>
      <p:sp>
        <p:nvSpPr>
          <p:cNvPr id="13" name="Rectangle 12"/>
          <p:cNvSpPr/>
          <p:nvPr/>
        </p:nvSpPr>
        <p:spPr>
          <a:xfrm>
            <a:off x="7973568" y="1682496"/>
            <a:ext cx="3566160" cy="13258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2" y="1810512"/>
            <a:ext cx="3291840"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GUARD OVERHEAD</a:t>
            </a:r>
          </a:p>
        </p:txBody>
      </p:sp>
      <p:sp>
        <p:nvSpPr>
          <p:cNvPr id="15" name="TextBox 14"/>
          <p:cNvSpPr txBox="1"/>
          <p:nvPr/>
        </p:nvSpPr>
        <p:spPr>
          <a:xfrm>
            <a:off x="8119872" y="2048256"/>
            <a:ext cx="3291840"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0</a:t>
            </a:r>
          </a:p>
        </p:txBody>
      </p:sp>
      <p:sp>
        <p:nvSpPr>
          <p:cNvPr id="16" name="TextBox 15"/>
          <p:cNvSpPr txBox="1"/>
          <p:nvPr/>
        </p:nvSpPr>
        <p:spPr>
          <a:xfrm>
            <a:off x="8119872" y="2551176"/>
            <a:ext cx="3291840"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embeddings once it is open</a:t>
            </a:r>
          </a:p>
        </p:txBody>
      </p:sp>
      <p:sp>
        <p:nvSpPr>
          <p:cNvPr id="17" name="TextBox 16"/>
          <p:cNvSpPr txBox="1"/>
          <p:nvPr/>
        </p:nvSpPr>
        <p:spPr>
          <a:xfrm>
            <a:off x="658368" y="3374136"/>
            <a:ext cx="10874959" cy="1463040"/>
          </a:xfrm>
          <a:prstGeom prst="rect">
            <a:avLst/>
          </a:prstGeom>
          <a:noFill/>
        </p:spPr>
        <p:txBody>
          <a:bodyPr wrap="square" lIns="0" rIns="0" tIns="0" bIns="0">
            <a:spAutoFit/>
          </a:bodyPr>
          <a:lstStyle/>
          <a:p>
            <a:pPr algn="l">
              <a:lnSpc>
                <a:spcPct val="150000"/>
              </a:lnSpc>
            </a:pPr>
            <a:r>
              <a:rPr sz="1600" b="0">
                <a:solidFill>
                  <a:srgbClr val="1C1B18"/>
                </a:solidFill>
                <a:latin typeface="Arial Narrow"/>
              </a:rPr>
              <a:t>That asymmetry is the product. Because being wrong costs one turn instead of the whole run, Plateau can afford to be sensitive — and being sensitive is what makes it worth installing at all.</a:t>
            </a:r>
          </a:p>
          <a:p>
            <a:pPr algn="l">
              <a:lnSpc>
                <a:spcPct val="150000"/>
              </a:lnSpc>
            </a:pPr>
            <a:r>
              <a:rPr sz="1600" b="0">
                <a:solidFill>
                  <a:srgbClr val="1C1B18"/>
                </a:solidFill>
                <a:latin typeface="Arial Narrow"/>
              </a:rPr>
              <a:t/>
            </a:r>
          </a:p>
          <a:p>
            <a:pPr algn="l">
              <a:lnSpc>
                <a:spcPct val="150000"/>
              </a:lnSpc>
            </a:pPr>
            <a:r>
              <a:rPr sz="1600" b="0">
                <a:solidFill>
                  <a:srgbClr val="1C1B18"/>
                </a:solidFill>
                <a:latin typeface="Arial Narrow"/>
              </a:rPr>
              <a:t>Measured on the live run: opened at turn 12, then probed, and every probe kept returning the runbook it had already read — so it stayed open. On an earlier run the probe found a file the agent had never opened, the breaker closed, and it worked again until it stalled a second time. One turn either way.</a:t>
            </a:r>
          </a:p>
        </p:txBody>
      </p:sp>
      <p:sp>
        <p:nvSpPr>
          <p:cNvPr id="18" name="TextBox 17"/>
          <p:cNvSpPr txBox="1"/>
          <p:nvPr/>
        </p:nvSpPr>
        <p:spPr>
          <a:xfrm>
            <a:off x="658368" y="4882896"/>
            <a:ext cx="1737360" cy="182880"/>
          </a:xfrm>
          <a:prstGeom prst="rect">
            <a:avLst/>
          </a:prstGeom>
          <a:noFill/>
        </p:spPr>
        <p:txBody>
          <a:bodyPr wrap="square" lIns="0" rIns="0" tIns="0" bIns="0">
            <a:spAutoFit/>
          </a:bodyPr>
          <a:lstStyle/>
          <a:p>
            <a:pPr algn="l">
              <a:lnSpc>
                <a:spcPct val="125000"/>
              </a:lnSpc>
            </a:pPr>
            <a:r>
              <a:rPr sz="900" b="1" spc="126">
                <a:solidFill>
                  <a:srgbClr val="1C1B18"/>
                </a:solidFill>
                <a:latin typeface="Arial Narrow"/>
              </a:rPr>
              <a:t>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IT DOES NOT JUST STOP THE AGENT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It says why, and where to go instead.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10874959" cy="2286000"/>
          </a:xfrm>
          <a:prstGeom prst="rect">
            <a:avLst/>
          </a:prstGeom>
          <a:solidFill>
            <a:srgbClr val="DCD7C9"/>
          </a:solidFill>
          <a:ln w="9525">
            <a:solidFill>
              <a:srgbClr val="B322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7088"/>
            <a:ext cx="10417759" cy="274320"/>
          </a:xfrm>
          <a:prstGeom prst="rect">
            <a:avLst/>
          </a:prstGeom>
          <a:noFill/>
        </p:spPr>
        <p:txBody>
          <a:bodyPr wrap="square" lIns="0" rIns="0" tIns="0" bIns="0">
            <a:spAutoFit/>
          </a:bodyPr>
          <a:lstStyle/>
          <a:p>
            <a:pPr algn="l">
              <a:lnSpc>
                <a:spcPct val="125000"/>
              </a:lnSpc>
            </a:pPr>
            <a:r>
              <a:rPr sz="1200" b="1" spc="216">
                <a:solidFill>
                  <a:srgbClr val="B3221B"/>
                </a:solidFill>
                <a:latin typeface="Arial Narrow"/>
              </a:rPr>
              <a:t>BREAKER OPEN</a:t>
            </a:r>
          </a:p>
        </p:txBody>
      </p:sp>
      <p:sp>
        <p:nvSpPr>
          <p:cNvPr id="7" name="TextBox 6"/>
          <p:cNvSpPr txBox="1"/>
          <p:nvPr/>
        </p:nvSpPr>
        <p:spPr>
          <a:xfrm>
            <a:off x="859536" y="2157984"/>
            <a:ext cx="10417759" cy="640080"/>
          </a:xfrm>
          <a:prstGeom prst="rect">
            <a:avLst/>
          </a:prstGeom>
          <a:noFill/>
        </p:spPr>
        <p:txBody>
          <a:bodyPr wrap="square" lIns="0" rIns="0" tIns="0" bIns="0">
            <a:spAutoFit/>
          </a:bodyPr>
          <a:lstStyle/>
          <a:p>
            <a:pPr algn="l">
              <a:lnSpc>
                <a:spcPct val="150000"/>
              </a:lnSpc>
            </a:pPr>
            <a:r>
              <a:rPr sz="1250" b="0">
                <a:solidFill>
                  <a:srgbClr val="1C1B18"/>
                </a:solidFill>
                <a:latin typeface="Consolas"/>
              </a:rPr>
              <a:t>The same question is being asked repeatedly and the answers are not new. Change the source or the approach, not the wording.</a:t>
            </a:r>
          </a:p>
          <a:p>
            <a:pPr algn="l">
              <a:lnSpc>
                <a:spcPct val="150000"/>
              </a:lnSpc>
            </a:pPr>
            <a:r>
              <a:rPr sz="1250" b="0">
                <a:solidFill>
                  <a:srgbClr val="1C1B18"/>
                </a:solidFill>
                <a:latin typeface="Consolas"/>
              </a:rPr>
              <a:t>action_sim 1.000 &gt;= ceiling 0.760;  obs_novelty 0.000 &lt; floor 0.25</a:t>
            </a:r>
          </a:p>
        </p:txBody>
      </p:sp>
      <p:sp>
        <p:nvSpPr>
          <p:cNvPr id="8" name="TextBox 7"/>
          <p:cNvSpPr txBox="1"/>
          <p:nvPr/>
        </p:nvSpPr>
        <p:spPr>
          <a:xfrm>
            <a:off x="859536" y="2980944"/>
            <a:ext cx="10417759" cy="457200"/>
          </a:xfrm>
          <a:prstGeom prst="rect">
            <a:avLst/>
          </a:prstGeom>
          <a:noFill/>
        </p:spPr>
        <p:txBody>
          <a:bodyPr wrap="square" lIns="0" rIns="0" tIns="0" bIns="0">
            <a:spAutoFit/>
          </a:bodyPr>
          <a:lstStyle/>
          <a:p>
            <a:pPr algn="l">
              <a:lnSpc>
                <a:spcPct val="150000"/>
              </a:lnSpc>
            </a:pPr>
            <a:r>
              <a:rPr sz="1250" b="0">
                <a:solidFill>
                  <a:srgbClr val="8A5F0B"/>
                </a:solidFill>
                <a:latin typeface="Consolas"/>
              </a:rPr>
              <a:t>Escape: turn 1 (read_file(path='docs/auth.md')) produced the most new information in this run (novelty 0.722). Return to that result and build on it instead of re-asking.</a:t>
            </a:r>
          </a:p>
        </p:txBody>
      </p:sp>
      <p:sp>
        <p:nvSpPr>
          <p:cNvPr id="9" name="TextBox 8"/>
          <p:cNvSpPr txBox="1"/>
          <p:nvPr/>
        </p:nvSpPr>
        <p:spPr>
          <a:xfrm>
            <a:off x="658368" y="4197096"/>
            <a:ext cx="10874959" cy="1097280"/>
          </a:xfrm>
          <a:prstGeom prst="rect">
            <a:avLst/>
          </a:prstGeom>
          <a:noFill/>
        </p:spPr>
        <p:txBody>
          <a:bodyPr wrap="square" lIns="0" rIns="0" tIns="0" bIns="0">
            <a:spAutoFit/>
          </a:bodyPr>
          <a:lstStyle/>
          <a:p>
            <a:pPr algn="l">
              <a:lnSpc>
                <a:spcPct val="145000"/>
              </a:lnSpc>
            </a:pPr>
            <a:r>
              <a:rPr sz="1700" b="0">
                <a:solidFill>
                  <a:srgbClr val="1C1B18"/>
                </a:solidFill>
                <a:latin typeface="Arial Narrow"/>
              </a:rPr>
              <a:t>A step cap can only say "stop". This is an alert becoming a diagnosis — the agent is handed a reason and a next move, in its own context, and can act on both.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VALUE POOL A — WASTED TOKENS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arithmetic, shown in full.</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6" cy="3072384"/>
        </p:xfrm>
        <a:graphic>
          <a:graphicData uri="http://schemas.openxmlformats.org/drawingml/2006/table">
            <a:tbl>
              <a:tblPr firstRow="1" bandRow="1">
                <a:tableStyleId>{5C22544A-7EE6-4342-B048-85BDC9FD1C3A}</a:tableStyleId>
              </a:tblPr>
              <a:tblGrid>
                <a:gridCol w="4349983"/>
                <a:gridCol w="2174991"/>
                <a:gridCol w="2174991"/>
                <a:gridCol w="2174991"/>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c>
                  <a:txBody>
                    <a:bodyPr wrap="square"/>
                    <a:lstStyle/>
                    <a:p>
                      <a:pPr algn="l"/>
                      <a:r>
                        <a:rPr sz="1150" b="1">
                          <a:solidFill>
                            <a:srgbClr val="E6E3DA"/>
                          </a:solidFill>
                          <a:latin typeface="Arial Narrow"/>
                        </a:rPr>
                        <a:t>Provenance</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Enterprise LLM API spend, mid-2025</a:t>
                      </a:r>
                    </a:p>
                  </a:txBody>
                  <a:tcPr marL="109728" marR="109728" marT="45720" marB="45720">
                    <a:solidFill>
                      <a:srgbClr val="DCD7C9"/>
                    </a:solidFill>
                  </a:tcPr>
                </a:tc>
                <a:tc>
                  <a:txBody>
                    <a:bodyPr wrap="square"/>
                    <a:lstStyle/>
                    <a:p>
                      <a:pPr algn="r"/>
                      <a:r>
                        <a:rPr sz="1150" b="0">
                          <a:solidFill>
                            <a:srgbClr val="1C1B18"/>
                          </a:solidFill>
                          <a:latin typeface="Consolas"/>
                        </a:rPr>
                        <a:t>$8.4B</a:t>
                      </a:r>
                    </a:p>
                  </a:txBody>
                  <a:tcPr marL="109728" marR="109728" marT="45720" marB="45720">
                    <a:solidFill>
                      <a:srgbClr val="DCD7C9"/>
                    </a:solidFill>
                  </a:tcPr>
                </a:tc>
                <a:tc>
                  <a:txBody>
                    <a:bodyPr wrap="square"/>
                    <a:lstStyle/>
                    <a:p>
                      <a:pPr algn="r"/>
                      <a:r>
                        <a:rPr sz="1150" b="0">
                          <a:solidFill>
                            <a:srgbClr val="1C1B18"/>
                          </a:solidFill>
                          <a:latin typeface="Consolas"/>
                        </a:rPr>
                        <a:t>$8.4B</a:t>
                      </a:r>
                    </a:p>
                  </a:txBody>
                  <a:tcPr marL="109728" marR="109728" marT="45720" marB="45720">
                    <a:solidFill>
                      <a:srgbClr val="DCD7C9"/>
                    </a:solidFill>
                  </a:tcPr>
                </a:tc>
                <a:tc>
                  <a:txBody>
                    <a:bodyPr wrap="square"/>
                    <a:lstStyle/>
                    <a:p>
                      <a:pPr algn="r"/>
                      <a:r>
                        <a:rPr sz="1150" b="0">
                          <a:solidFill>
                            <a:srgbClr val="1C1B18"/>
                          </a:solidFill>
                          <a:latin typeface="Consolas"/>
                        </a:rPr>
                        <a:t>sourced</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2026 run-rate at observed doubling</a:t>
                      </a:r>
                    </a:p>
                  </a:txBody>
                  <a:tcPr marL="109728" marR="109728" marT="45720" marB="45720">
                    <a:solidFill>
                      <a:srgbClr val="E6E3DA"/>
                    </a:solidFill>
                  </a:tcPr>
                </a:tc>
                <a:tc>
                  <a:txBody>
                    <a:bodyPr wrap="square"/>
                    <a:lstStyle/>
                    <a:p>
                      <a:pPr algn="r"/>
                      <a:r>
                        <a:rPr sz="1150" b="0">
                          <a:solidFill>
                            <a:srgbClr val="1C1B18"/>
                          </a:solidFill>
                          <a:latin typeface="Consolas"/>
                        </a:rPr>
                        <a:t>$17B</a:t>
                      </a:r>
                    </a:p>
                  </a:txBody>
                  <a:tcPr marL="109728" marR="109728" marT="45720" marB="45720">
                    <a:solidFill>
                      <a:srgbClr val="E6E3DA"/>
                    </a:solidFill>
                  </a:tcPr>
                </a:tc>
                <a:tc>
                  <a:txBody>
                    <a:bodyPr wrap="square"/>
                    <a:lstStyle/>
                    <a:p>
                      <a:pPr algn="r"/>
                      <a:r>
                        <a:rPr sz="1150" b="0">
                          <a:solidFill>
                            <a:srgbClr val="1C1B18"/>
                          </a:solidFill>
                          <a:latin typeface="Consolas"/>
                        </a:rPr>
                        <a:t>$17B</a:t>
                      </a:r>
                    </a:p>
                  </a:txBody>
                  <a:tcPr marL="109728" marR="109728" marT="45720" marB="45720">
                    <a:solidFill>
                      <a:srgbClr val="E6E3DA"/>
                    </a:solidFill>
                  </a:tcPr>
                </a:tc>
                <a:tc>
                  <a:txBody>
                    <a:bodyPr wrap="square"/>
                    <a:lstStyle/>
                    <a:p>
                      <a:pPr algn="r"/>
                      <a:r>
                        <a:rPr sz="1150" b="0">
                          <a:solidFill>
                            <a:srgbClr val="1C1B18"/>
                          </a:solidFill>
                          <a:latin typeface="Consolas"/>
                        </a:rPr>
                        <a:t>extrapolated</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Agentic share — multi-turn, tool-using</a:t>
                      </a:r>
                    </a:p>
                  </a:txBody>
                  <a:tcPr marL="109728" marR="109728" marT="45720" marB="45720">
                    <a:solidFill>
                      <a:srgbClr val="DCD7C9"/>
                    </a:solidFill>
                  </a:tcPr>
                </a:tc>
                <a:tc>
                  <a:txBody>
                    <a:bodyPr wrap="square"/>
                    <a:lstStyle/>
                    <a:p>
                      <a:pPr algn="r"/>
                      <a:r>
                        <a:rPr sz="1150" b="0">
                          <a:solidFill>
                            <a:srgbClr val="1C1B18"/>
                          </a:solidFill>
                          <a:latin typeface="Consolas"/>
                        </a:rPr>
                        <a:t>35% · $6.0B</a:t>
                      </a:r>
                    </a:p>
                  </a:txBody>
                  <a:tcPr marL="109728" marR="109728" marT="45720" marB="45720">
                    <a:solidFill>
                      <a:srgbClr val="DCD7C9"/>
                    </a:solidFill>
                  </a:tcPr>
                </a:tc>
                <a:tc>
                  <a:txBody>
                    <a:bodyPr wrap="square"/>
                    <a:lstStyle/>
                    <a:p>
                      <a:pPr algn="r"/>
                      <a:r>
                        <a:rPr sz="1150" b="0">
                          <a:solidFill>
                            <a:srgbClr val="1C1B18"/>
                          </a:solidFill>
                          <a:latin typeface="Consolas"/>
                        </a:rPr>
                        <a:t>45% · $7.7B</a:t>
                      </a:r>
                    </a:p>
                  </a:txBody>
                  <a:tcPr marL="109728" marR="109728" marT="45720" marB="45720">
                    <a:solidFill>
                      <a:srgbClr val="DCD7C9"/>
                    </a:solidFill>
                  </a:tcPr>
                </a:tc>
                <a:tc>
                  <a:txBody>
                    <a:bodyPr wrap="square"/>
                    <a:lstStyle/>
                    <a:p>
                      <a:pPr algn="r"/>
                      <a:r>
                        <a:rPr sz="1150" b="0">
                          <a:solidFill>
                            <a:srgbClr val="1C1B18"/>
                          </a:solidFill>
                          <a:latin typeface="Consolas"/>
                        </a:rPr>
                        <a:t>assumption</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Unattended share — overnight, batch</a:t>
                      </a:r>
                    </a:p>
                  </a:txBody>
                  <a:tcPr marL="109728" marR="109728" marT="45720" marB="45720">
                    <a:solidFill>
                      <a:srgbClr val="E6E3DA"/>
                    </a:solidFill>
                  </a:tcPr>
                </a:tc>
                <a:tc>
                  <a:txBody>
                    <a:bodyPr wrap="square"/>
                    <a:lstStyle/>
                    <a:p>
                      <a:pPr algn="r"/>
                      <a:r>
                        <a:rPr sz="1150" b="0">
                          <a:solidFill>
                            <a:srgbClr val="1C1B18"/>
                          </a:solidFill>
                          <a:latin typeface="Consolas"/>
                        </a:rPr>
                        <a:t>40% · $2.4B</a:t>
                      </a:r>
                    </a:p>
                  </a:txBody>
                  <a:tcPr marL="109728" marR="109728" marT="45720" marB="45720">
                    <a:solidFill>
                      <a:srgbClr val="E6E3DA"/>
                    </a:solidFill>
                  </a:tcPr>
                </a:tc>
                <a:tc>
                  <a:txBody>
                    <a:bodyPr wrap="square"/>
                    <a:lstStyle/>
                    <a:p>
                      <a:pPr algn="r"/>
                      <a:r>
                        <a:rPr sz="1150" b="0">
                          <a:solidFill>
                            <a:srgbClr val="1C1B18"/>
                          </a:solidFill>
                          <a:latin typeface="Consolas"/>
                        </a:rPr>
                        <a:t>55% · $4.2B</a:t>
                      </a:r>
                    </a:p>
                  </a:txBody>
                  <a:tcPr marL="109728" marR="109728" marT="45720" marB="45720">
                    <a:solidFill>
                      <a:srgbClr val="E6E3DA"/>
                    </a:solidFill>
                  </a:tcPr>
                </a:tc>
                <a:tc>
                  <a:txBody>
                    <a:bodyPr wrap="square"/>
                    <a:lstStyle/>
                    <a:p>
                      <a:pPr algn="r"/>
                      <a:r>
                        <a:rPr sz="1150" b="0">
                          <a:solidFill>
                            <a:srgbClr val="1C1B18"/>
                          </a:solidFill>
                          <a:latin typeface="Consolas"/>
                        </a:rPr>
                        <a:t>assumption</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Lost to silent stalls</a:t>
                      </a:r>
                    </a:p>
                  </a:txBody>
                  <a:tcPr marL="109728" marR="109728" marT="45720" marB="45720">
                    <a:solidFill>
                      <a:srgbClr val="DCD7C9"/>
                    </a:solidFill>
                  </a:tcPr>
                </a:tc>
                <a:tc>
                  <a:txBody>
                    <a:bodyPr wrap="square"/>
                    <a:lstStyle/>
                    <a:p>
                      <a:pPr algn="r"/>
                      <a:r>
                        <a:rPr sz="1150" b="1">
                          <a:solidFill>
                            <a:srgbClr val="B3221B"/>
                          </a:solidFill>
                          <a:latin typeface="Consolas"/>
                        </a:rPr>
                        <a:t>15% · $360M</a:t>
                      </a:r>
                    </a:p>
                  </a:txBody>
                  <a:tcPr marL="109728" marR="109728" marT="45720" marB="45720">
                    <a:solidFill>
                      <a:srgbClr val="DCD7C9"/>
                    </a:solidFill>
                  </a:tcPr>
                </a:tc>
                <a:tc>
                  <a:txBody>
                    <a:bodyPr wrap="square"/>
                    <a:lstStyle/>
                    <a:p>
                      <a:pPr algn="r"/>
                      <a:r>
                        <a:rPr sz="1150" b="1">
                          <a:solidFill>
                            <a:srgbClr val="B3221B"/>
                          </a:solidFill>
                          <a:latin typeface="Consolas"/>
                        </a:rPr>
                        <a:t>25% · $1.05B</a:t>
                      </a:r>
                    </a:p>
                  </a:txBody>
                  <a:tcPr marL="109728" marR="109728" marT="45720" marB="45720">
                    <a:solidFill>
                      <a:srgbClr val="DCD7C9"/>
                    </a:solidFill>
                  </a:tcPr>
                </a:tc>
                <a:tc>
                  <a:txBody>
                    <a:bodyPr wrap="square"/>
                    <a:lstStyle/>
                    <a:p>
                      <a:pPr algn="r"/>
                      <a:r>
                        <a:rPr sz="1150" b="0">
                          <a:solidFill>
                            <a:srgbClr val="1C1B18"/>
                          </a:solidFill>
                          <a:latin typeface="Consolas"/>
                        </a:rPr>
                        <a:t>assumption</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Tooling capture of value saved</a:t>
                      </a:r>
                    </a:p>
                  </a:txBody>
                  <a:tcPr marL="109728" marR="109728" marT="45720" marB="45720">
                    <a:solidFill>
                      <a:srgbClr val="E6E3DA"/>
                    </a:solidFill>
                  </a:tcPr>
                </a:tc>
                <a:tc>
                  <a:txBody>
                    <a:bodyPr wrap="square"/>
                    <a:lstStyle/>
                    <a:p>
                      <a:pPr algn="r"/>
                      <a:r>
                        <a:rPr sz="1150" b="0">
                          <a:solidFill>
                            <a:srgbClr val="1C1B18"/>
                          </a:solidFill>
                          <a:latin typeface="Consolas"/>
                        </a:rPr>
                        <a:t>15%</a:t>
                      </a:r>
                    </a:p>
                  </a:txBody>
                  <a:tcPr marL="109728" marR="109728" marT="45720" marB="45720">
                    <a:solidFill>
                      <a:srgbClr val="E6E3DA"/>
                    </a:solidFill>
                  </a:tcPr>
                </a:tc>
                <a:tc>
                  <a:txBody>
                    <a:bodyPr wrap="square"/>
                    <a:lstStyle/>
                    <a:p>
                      <a:pPr algn="r"/>
                      <a:r>
                        <a:rPr sz="1150" b="0">
                          <a:solidFill>
                            <a:srgbClr val="1C1B18"/>
                          </a:solidFill>
                          <a:latin typeface="Consolas"/>
                        </a:rPr>
                        <a:t>25%</a:t>
                      </a:r>
                    </a:p>
                  </a:txBody>
                  <a:tcPr marL="109728" marR="109728" marT="45720" marB="45720">
                    <a:solidFill>
                      <a:srgbClr val="E6E3DA"/>
                    </a:solidFill>
                  </a:tcPr>
                </a:tc>
                <a:tc>
                  <a:txBody>
                    <a:bodyPr wrap="square"/>
                    <a:lstStyle/>
                    <a:p>
                      <a:pPr algn="r"/>
                      <a:r>
                        <a:rPr sz="1150" b="0">
                          <a:solidFill>
                            <a:srgbClr val="1C1B18"/>
                          </a:solidFill>
                          <a:latin typeface="Consolas"/>
                        </a:rPr>
                        <a:t>assumption</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Serviceable revenue, today</a:t>
                      </a:r>
                    </a:p>
                  </a:txBody>
                  <a:tcPr marL="109728" marR="109728" marT="45720" marB="45720">
                    <a:solidFill>
                      <a:srgbClr val="DCD7C9"/>
                    </a:solidFill>
                  </a:tcPr>
                </a:tc>
                <a:tc>
                  <a:txBody>
                    <a:bodyPr wrap="square"/>
                    <a:lstStyle/>
                    <a:p>
                      <a:pPr algn="r"/>
                      <a:r>
                        <a:rPr sz="1150" b="1">
                          <a:solidFill>
                            <a:srgbClr val="0E6F52"/>
                          </a:solidFill>
                          <a:latin typeface="Consolas"/>
                        </a:rPr>
                        <a:t>$54M</a:t>
                      </a:r>
                    </a:p>
                  </a:txBody>
                  <a:tcPr marL="109728" marR="109728" marT="45720" marB="45720">
                    <a:solidFill>
                      <a:srgbClr val="DCD7C9"/>
                    </a:solidFill>
                  </a:tcPr>
                </a:tc>
                <a:tc>
                  <a:txBody>
                    <a:bodyPr wrap="square"/>
                    <a:lstStyle/>
                    <a:p>
                      <a:pPr algn="r"/>
                      <a:r>
                        <a:rPr sz="1150" b="1">
                          <a:solidFill>
                            <a:srgbClr val="0E6F52"/>
                          </a:solidFill>
                          <a:latin typeface="Consolas"/>
                        </a:rPr>
                        <a:t>$260M</a:t>
                      </a:r>
                    </a:p>
                  </a:txBody>
                  <a:tcPr marL="109728" marR="109728" marT="45720" marB="45720">
                    <a:solidFill>
                      <a:srgbClr val="DCD7C9"/>
                    </a:solidFill>
                  </a:tcPr>
                </a:tc>
                <a:tc>
                  <a:txBody>
                    <a:bodyPr wrap="square"/>
                    <a:lstStyle/>
                    <a:p>
                      <a:pPr algn="r"/>
                      <a:r>
                        <a:rPr sz="1150" b="0">
                          <a:solidFill>
                            <a:srgbClr val="1C1B18"/>
                          </a:solidFill>
                          <a:latin typeface="Consolas"/>
                        </a:rPr>
                        <a:t/>
                      </a:r>
                    </a:p>
                  </a:txBody>
                  <a:tcPr marL="109728" marR="109728" marT="45720" marB="45720">
                    <a:solidFill>
                      <a:srgbClr val="DCD7C9"/>
                    </a:solidFill>
                  </a:tcPr>
                </a:tc>
              </a:tr>
            </a:tbl>
          </a:graphicData>
        </a:graphic>
      </p:graphicFrame>
      <p:sp>
        <p:nvSpPr>
          <p:cNvPr id="6" name="TextBox 5"/>
          <p:cNvSpPr txBox="1"/>
          <p:nvPr/>
        </p:nvSpPr>
        <p:spPr>
          <a:xfrm>
            <a:off x="658368" y="4837176"/>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Every input is tagged and every assumption carries its reasoning, so any single line can be attacked without the structure collapsing. Base and bull are shown side by side rather than one being picked.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VALUE POOL B — ENGINEER TIME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larger pool, and the one that closes.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09344"/>
            <a:ext cx="10874959" cy="365760"/>
          </a:xfrm>
          <a:prstGeom prst="rect">
            <a:avLst/>
          </a:prstGeom>
          <a:noFill/>
        </p:spPr>
        <p:txBody>
          <a:bodyPr wrap="square" lIns="0" rIns="0" tIns="0" bIns="0">
            <a:spAutoFit/>
          </a:bodyPr>
          <a:lstStyle/>
          <a:p>
            <a:pPr algn="l">
              <a:lnSpc>
                <a:spcPct val="120000"/>
              </a:lnSpc>
            </a:pPr>
            <a:r>
              <a:rPr sz="1800" b="1">
                <a:solidFill>
                  <a:srgbClr val="1C1B18"/>
                </a:solidFill>
                <a:latin typeface="Arial Narrow"/>
              </a:rPr>
              <a:t>A stalled overnight run does not waste $40 of tokens. It wastes the morning.</a:t>
            </a:r>
          </a:p>
        </p:txBody>
      </p:sp>
      <p:graphicFrame>
        <p:nvGraphicFramePr>
          <p:cNvPr id="6" name="Table 5"/>
          <p:cNvGraphicFramePr>
            <a:graphicFrameLocks noGrp="1"/>
          </p:cNvGraphicFramePr>
          <p:nvPr/>
        </p:nvGraphicFramePr>
        <p:xfrm>
          <a:off x="658368" y="2093976"/>
          <a:ext cx="5760718" cy="2304288"/>
        </p:xfrm>
        <a:graphic>
          <a:graphicData uri="http://schemas.openxmlformats.org/drawingml/2006/table">
            <a:tbl>
              <a:tblPr firstRow="1" bandRow="1">
                <a:tableStyleId>{5C22544A-7EE6-4342-B048-85BDC9FD1C3A}</a:tableStyleId>
              </a:tblPr>
              <a:tblGrid>
                <a:gridCol w="2995574"/>
                <a:gridCol w="1382572"/>
                <a:gridCol w="1382572"/>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Unattended runs / engineer / week</a:t>
                      </a:r>
                    </a:p>
                  </a:txBody>
                  <a:tcPr marL="109728" marR="109728" marT="45720" marB="45720">
                    <a:solidFill>
                      <a:srgbClr val="DCD7C9"/>
                    </a:solidFill>
                  </a:tcPr>
                </a:tc>
                <a:tc>
                  <a:txBody>
                    <a:bodyPr wrap="square"/>
                    <a:lstStyle/>
                    <a:p>
                      <a:pPr algn="r"/>
                      <a:r>
                        <a:rPr sz="1150" b="0">
                          <a:solidFill>
                            <a:srgbClr val="1C1B18"/>
                          </a:solidFill>
                          <a:latin typeface="Consolas"/>
                        </a:rPr>
                        <a:t>5</a:t>
                      </a:r>
                    </a:p>
                  </a:txBody>
                  <a:tcPr marL="109728" marR="109728" marT="45720" marB="45720">
                    <a:solidFill>
                      <a:srgbClr val="DCD7C9"/>
                    </a:solidFill>
                  </a:tcPr>
                </a:tc>
                <a:tc>
                  <a:txBody>
                    <a:bodyPr wrap="square"/>
                    <a:lstStyle/>
                    <a:p>
                      <a:pPr algn="r"/>
                      <a:r>
                        <a:rPr sz="1150" b="0">
                          <a:solidFill>
                            <a:srgbClr val="1C1B18"/>
                          </a:solidFill>
                          <a:latin typeface="Consolas"/>
                        </a:rPr>
                        <a:t>8</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Share that stall silently</a:t>
                      </a:r>
                    </a:p>
                  </a:txBody>
                  <a:tcPr marL="109728" marR="109728" marT="45720" marB="45720">
                    <a:solidFill>
                      <a:srgbClr val="E6E3DA"/>
                    </a:solidFill>
                  </a:tcPr>
                </a:tc>
                <a:tc>
                  <a:txBody>
                    <a:bodyPr wrap="square"/>
                    <a:lstStyle/>
                    <a:p>
                      <a:pPr algn="r"/>
                      <a:r>
                        <a:rPr sz="1150" b="0">
                          <a:solidFill>
                            <a:srgbClr val="1C1B18"/>
                          </a:solidFill>
                          <a:latin typeface="Consolas"/>
                        </a:rPr>
                        <a:t>10%</a:t>
                      </a:r>
                    </a:p>
                  </a:txBody>
                  <a:tcPr marL="109728" marR="109728" marT="45720" marB="45720">
                    <a:solidFill>
                      <a:srgbClr val="E6E3DA"/>
                    </a:solidFill>
                  </a:tcPr>
                </a:tc>
                <a:tc>
                  <a:txBody>
                    <a:bodyPr wrap="square"/>
                    <a:lstStyle/>
                    <a:p>
                      <a:pPr algn="r"/>
                      <a:r>
                        <a:rPr sz="1150" b="0">
                          <a:solidFill>
                            <a:srgbClr val="1C1B18"/>
                          </a:solidFill>
                          <a:latin typeface="Consolas"/>
                        </a:rPr>
                        <a:t>15%</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Engineer-hours lost per stall</a:t>
                      </a:r>
                    </a:p>
                  </a:txBody>
                  <a:tcPr marL="109728" marR="109728" marT="45720" marB="45720">
                    <a:solidFill>
                      <a:srgbClr val="DCD7C9"/>
                    </a:solidFill>
                  </a:tcPr>
                </a:tc>
                <a:tc>
                  <a:txBody>
                    <a:bodyPr wrap="square"/>
                    <a:lstStyle/>
                    <a:p>
                      <a:pPr algn="r"/>
                      <a:r>
                        <a:rPr sz="1150" b="0">
                          <a:solidFill>
                            <a:srgbClr val="1C1B18"/>
                          </a:solidFill>
                          <a:latin typeface="Consolas"/>
                        </a:rPr>
                        <a:t>2</a:t>
                      </a:r>
                    </a:p>
                  </a:txBody>
                  <a:tcPr marL="109728" marR="109728" marT="45720" marB="45720">
                    <a:solidFill>
                      <a:srgbClr val="DCD7C9"/>
                    </a:solidFill>
                  </a:tcPr>
                </a:tc>
                <a:tc>
                  <a:txBody>
                    <a:bodyPr wrap="square"/>
                    <a:lstStyle/>
                    <a:p>
                      <a:pPr algn="r"/>
                      <a:r>
                        <a:rPr sz="1150" b="0">
                          <a:solidFill>
                            <a:srgbClr val="1C1B18"/>
                          </a:solidFill>
                          <a:latin typeface="Consolas"/>
                        </a:rPr>
                        <a:t>3</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Loaded cost / engineer-hour</a:t>
                      </a:r>
                    </a:p>
                  </a:txBody>
                  <a:tcPr marL="109728" marR="109728" marT="45720" marB="45720">
                    <a:solidFill>
                      <a:srgbClr val="E6E3DA"/>
                    </a:solidFill>
                  </a:tcPr>
                </a:tc>
                <a:tc>
                  <a:txBody>
                    <a:bodyPr wrap="square"/>
                    <a:lstStyle/>
                    <a:p>
                      <a:pPr algn="r"/>
                      <a:r>
                        <a:rPr sz="1150" b="0">
                          <a:solidFill>
                            <a:srgbClr val="1C1B18"/>
                          </a:solidFill>
                          <a:latin typeface="Consolas"/>
                        </a:rPr>
                        <a:t>$75</a:t>
                      </a:r>
                    </a:p>
                  </a:txBody>
                  <a:tcPr marL="109728" marR="109728" marT="45720" marB="45720">
                    <a:solidFill>
                      <a:srgbClr val="E6E3DA"/>
                    </a:solidFill>
                  </a:tcPr>
                </a:tc>
                <a:tc>
                  <a:txBody>
                    <a:bodyPr wrap="square"/>
                    <a:lstStyle/>
                    <a:p>
                      <a:pPr algn="r"/>
                      <a:r>
                        <a:rPr sz="1150" b="0">
                          <a:solidFill>
                            <a:srgbClr val="1C1B18"/>
                          </a:solidFill>
                          <a:latin typeface="Consolas"/>
                        </a:rPr>
                        <a:t>$90</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Recovered / engineer / year</a:t>
                      </a:r>
                    </a:p>
                  </a:txBody>
                  <a:tcPr marL="109728" marR="109728" marT="45720" marB="45720">
                    <a:solidFill>
                      <a:srgbClr val="DCD7C9"/>
                    </a:solidFill>
                  </a:tcPr>
                </a:tc>
                <a:tc>
                  <a:txBody>
                    <a:bodyPr wrap="square"/>
                    <a:lstStyle/>
                    <a:p>
                      <a:pPr algn="r"/>
                      <a:r>
                        <a:rPr sz="1150" b="1">
                          <a:solidFill>
                            <a:srgbClr val="0E6F52"/>
                          </a:solidFill>
                          <a:latin typeface="Consolas"/>
                        </a:rPr>
                        <a:t>$3,900</a:t>
                      </a:r>
                    </a:p>
                  </a:txBody>
                  <a:tcPr marL="109728" marR="109728" marT="45720" marB="45720">
                    <a:solidFill>
                      <a:srgbClr val="DCD7C9"/>
                    </a:solidFill>
                  </a:tcPr>
                </a:tc>
                <a:tc>
                  <a:txBody>
                    <a:bodyPr wrap="square"/>
                    <a:lstStyle/>
                    <a:p>
                      <a:pPr algn="r"/>
                      <a:r>
                        <a:rPr sz="1150" b="1">
                          <a:solidFill>
                            <a:srgbClr val="0E6F52"/>
                          </a:solidFill>
                          <a:latin typeface="Consolas"/>
                        </a:rPr>
                        <a:t>$16,800</a:t>
                      </a:r>
                    </a:p>
                  </a:txBody>
                  <a:tcPr marL="109728" marR="109728" marT="45720" marB="45720">
                    <a:solidFill>
                      <a:srgbClr val="DCD7C9"/>
                    </a:solidFill>
                  </a:tcPr>
                </a:tc>
              </a:tr>
            </a:tbl>
          </a:graphicData>
        </a:graphic>
      </p:graphicFrame>
      <p:sp>
        <p:nvSpPr>
          <p:cNvPr id="7" name="Rectangle 6"/>
          <p:cNvSpPr/>
          <p:nvPr/>
        </p:nvSpPr>
        <p:spPr>
          <a:xfrm>
            <a:off x="6967728" y="2093976"/>
            <a:ext cx="4572000" cy="2395728"/>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96328" y="2304288"/>
            <a:ext cx="4114800" cy="2011680"/>
          </a:xfrm>
          <a:prstGeom prst="rect">
            <a:avLst/>
          </a:prstGeom>
          <a:noFill/>
        </p:spPr>
        <p:txBody>
          <a:bodyPr wrap="square" lIns="0" rIns="0" tIns="0" bIns="0">
            <a:spAutoFit/>
          </a:bodyPr>
          <a:lstStyle/>
          <a:p>
            <a:pPr algn="l">
              <a:lnSpc>
                <a:spcPct val="155000"/>
              </a:lnSpc>
            </a:pPr>
            <a:r>
              <a:rPr sz="1400" b="0">
                <a:solidFill>
                  <a:srgbClr val="1C1B18"/>
                </a:solidFill>
                <a:latin typeface="Consolas"/>
              </a:rPr>
              <a:t>For a 20-engineer team</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   $78k – $336k / year</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against a tool priced in</a:t>
            </a:r>
          </a:p>
          <a:p>
            <a:pPr algn="l">
              <a:lnSpc>
                <a:spcPct val="155000"/>
              </a:lnSpc>
            </a:pPr>
            <a:r>
              <a:rPr sz="1400" b="0">
                <a:solidFill>
                  <a:srgbClr val="1C1B18"/>
                </a:solidFill>
                <a:latin typeface="Consolas"/>
              </a:rPr>
              <a:t>the low five figures</a:t>
            </a:r>
          </a:p>
        </p:txBody>
      </p:sp>
      <p:sp>
        <p:nvSpPr>
          <p:cNvPr id="9" name="Rectangle 8"/>
          <p:cNvSpPr/>
          <p:nvPr/>
        </p:nvSpPr>
        <p:spPr>
          <a:xfrm>
            <a:off x="658368" y="465429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37176"/>
            <a:ext cx="10874959" cy="548640"/>
          </a:xfrm>
          <a:prstGeom prst="rect">
            <a:avLst/>
          </a:prstGeom>
          <a:noFill/>
        </p:spPr>
        <p:txBody>
          <a:bodyPr wrap="square" lIns="0" rIns="0" tIns="0" bIns="0">
            <a:spAutoFit/>
          </a:bodyPr>
          <a:lstStyle/>
          <a:p>
            <a:pPr algn="l">
              <a:lnSpc>
                <a:spcPct val="125000"/>
              </a:lnSpc>
            </a:pPr>
            <a:r>
              <a:rPr sz="2100" b="1">
                <a:solidFill>
                  <a:srgbClr val="1C1B18"/>
                </a:solidFill>
                <a:latin typeface="Arial Narrow"/>
              </a:rPr>
              <a:t>A 5–20x ROI on a purchase order. That is the number that closes.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MARKET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TAM, SAM, and what is winnable in three years.</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5" cy="1152144"/>
        </p:xfrm>
        <a:graphic>
          <a:graphicData uri="http://schemas.openxmlformats.org/drawingml/2006/table">
            <a:tbl>
              <a:tblPr firstRow="1" bandRow="1">
                <a:tableStyleId>{5C22544A-7EE6-4342-B048-85BDC9FD1C3A}</a:tableStyleId>
              </a:tblPr>
              <a:tblGrid>
                <a:gridCol w="4349983"/>
                <a:gridCol w="1631243"/>
                <a:gridCol w="1631243"/>
                <a:gridCol w="1631243"/>
                <a:gridCol w="1631243"/>
              </a:tblGrid>
              <a:tr h="384048">
                <a:tc>
                  <a:txBody>
                    <a:bodyPr wrap="square"/>
                    <a:lstStyle/>
                    <a:p>
                      <a:pPr algn="l"/>
                      <a:r>
                        <a:rPr sz="1150" b="1">
                          <a:solidFill>
                            <a:srgbClr val="E6E3DA"/>
                          </a:solidFill>
                          <a:latin typeface="Arial Narrow"/>
                        </a:rPr>
                        <a:t/>
                      </a:r>
                    </a:p>
                  </a:txBody>
                  <a:tcPr marL="109728" marR="109728" marT="45720" marB="45720">
                    <a:solidFill>
                      <a:srgbClr val="1C1B18"/>
                    </a:solidFill>
                  </a:tcPr>
                </a:tc>
                <a:tc>
                  <a:txBody>
                    <a:bodyPr wrap="square"/>
                    <a:lstStyle/>
                    <a:p>
                      <a:pPr algn="l"/>
                      <a:r>
                        <a:rPr sz="1150" b="1">
                          <a:solidFill>
                            <a:srgbClr val="E6E3DA"/>
                          </a:solidFill>
                          <a:latin typeface="Arial Narrow"/>
                        </a:rPr>
                        <a:t>Base today</a:t>
                      </a:r>
                    </a:p>
                  </a:txBody>
                  <a:tcPr marL="109728" marR="109728" marT="45720" marB="45720">
                    <a:solidFill>
                      <a:srgbClr val="1C1B18"/>
                    </a:solidFill>
                  </a:tcPr>
                </a:tc>
                <a:tc>
                  <a:txBody>
                    <a:bodyPr wrap="square"/>
                    <a:lstStyle/>
                    <a:p>
                      <a:pPr algn="l"/>
                      <a:r>
                        <a:rPr sz="1150" b="1">
                          <a:solidFill>
                            <a:srgbClr val="E6E3DA"/>
                          </a:solidFill>
                          <a:latin typeface="Arial Narrow"/>
                        </a:rPr>
                        <a:t>Bull today</a:t>
                      </a:r>
                    </a:p>
                  </a:txBody>
                  <a:tcPr marL="109728" marR="109728" marT="45720" marB="45720">
                    <a:solidFill>
                      <a:srgbClr val="1C1B18"/>
                    </a:solidFill>
                  </a:tcPr>
                </a:tc>
                <a:tc>
                  <a:txBody>
                    <a:bodyPr wrap="square"/>
                    <a:lstStyle/>
                    <a:p>
                      <a:pPr algn="l"/>
                      <a:r>
                        <a:rPr sz="1150" b="1">
                          <a:solidFill>
                            <a:srgbClr val="E6E3DA"/>
                          </a:solidFill>
                          <a:latin typeface="Arial Narrow"/>
                        </a:rPr>
                        <a:t>Base 2029</a:t>
                      </a:r>
                    </a:p>
                  </a:txBody>
                  <a:tcPr marL="109728" marR="109728" marT="45720" marB="45720">
                    <a:solidFill>
                      <a:srgbClr val="1C1B18"/>
                    </a:solidFill>
                  </a:tcPr>
                </a:tc>
                <a:tc>
                  <a:txBody>
                    <a:bodyPr wrap="square"/>
                    <a:lstStyle/>
                    <a:p>
                      <a:pPr algn="l"/>
                      <a:r>
                        <a:rPr sz="1150" b="1">
                          <a:solidFill>
                            <a:srgbClr val="E6E3DA"/>
                          </a:solidFill>
                          <a:latin typeface="Arial Narrow"/>
                        </a:rPr>
                        <a:t>Bull 2029</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TAM — teams running agents in production</a:t>
                      </a:r>
                    </a:p>
                  </a:txBody>
                  <a:tcPr marL="109728" marR="109728" marT="45720" marB="45720">
                    <a:solidFill>
                      <a:srgbClr val="DCD7C9"/>
                    </a:solidFill>
                  </a:tcPr>
                </a:tc>
                <a:tc>
                  <a:txBody>
                    <a:bodyPr wrap="square"/>
                    <a:lstStyle/>
                    <a:p>
                      <a:pPr algn="r"/>
                      <a:r>
                        <a:rPr sz="1150" b="0">
                          <a:solidFill>
                            <a:srgbClr val="1C1B18"/>
                          </a:solidFill>
                          <a:latin typeface="Consolas"/>
                        </a:rPr>
                        <a:t>$250M</a:t>
                      </a:r>
                    </a:p>
                  </a:txBody>
                  <a:tcPr marL="109728" marR="109728" marT="45720" marB="45720">
                    <a:solidFill>
                      <a:srgbClr val="DCD7C9"/>
                    </a:solidFill>
                  </a:tcPr>
                </a:tc>
                <a:tc>
                  <a:txBody>
                    <a:bodyPr wrap="square"/>
                    <a:lstStyle/>
                    <a:p>
                      <a:pPr algn="r"/>
                      <a:r>
                        <a:rPr sz="1150" b="0">
                          <a:solidFill>
                            <a:srgbClr val="1C1B18"/>
                          </a:solidFill>
                          <a:latin typeface="Consolas"/>
                        </a:rPr>
                        <a:t>$700M</a:t>
                      </a:r>
                    </a:p>
                  </a:txBody>
                  <a:tcPr marL="109728" marR="109728" marT="45720" marB="45720">
                    <a:solidFill>
                      <a:srgbClr val="DCD7C9"/>
                    </a:solidFill>
                  </a:tcPr>
                </a:tc>
                <a:tc>
                  <a:txBody>
                    <a:bodyPr wrap="square"/>
                    <a:lstStyle/>
                    <a:p>
                      <a:pPr algn="r"/>
                      <a:r>
                        <a:rPr sz="1150" b="0">
                          <a:solidFill>
                            <a:srgbClr val="1C1B18"/>
                          </a:solidFill>
                          <a:latin typeface="Consolas"/>
                        </a:rPr>
                        <a:t>$1.7B</a:t>
                      </a:r>
                    </a:p>
                  </a:txBody>
                  <a:tcPr marL="109728" marR="109728" marT="45720" marB="45720">
                    <a:solidFill>
                      <a:srgbClr val="DCD7C9"/>
                    </a:solidFill>
                  </a:tcPr>
                </a:tc>
                <a:tc>
                  <a:txBody>
                    <a:bodyPr wrap="square"/>
                    <a:lstStyle/>
                    <a:p>
                      <a:pPr algn="r"/>
                      <a:r>
                        <a:rPr sz="1150" b="0">
                          <a:solidFill>
                            <a:srgbClr val="1C1B18"/>
                          </a:solidFill>
                          <a:latin typeface="Consolas"/>
                        </a:rPr>
                        <a:t>$5.6B</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SAM — unattended, on hookable frameworks</a:t>
                      </a:r>
                    </a:p>
                  </a:txBody>
                  <a:tcPr marL="109728" marR="109728" marT="45720" marB="45720">
                    <a:solidFill>
                      <a:srgbClr val="E6E3DA"/>
                    </a:solidFill>
                  </a:tcPr>
                </a:tc>
                <a:tc>
                  <a:txBody>
                    <a:bodyPr wrap="square"/>
                    <a:lstStyle/>
                    <a:p>
                      <a:pPr algn="r"/>
                      <a:r>
                        <a:rPr sz="1150" b="0">
                          <a:solidFill>
                            <a:srgbClr val="1C1B18"/>
                          </a:solidFill>
                          <a:latin typeface="Consolas"/>
                        </a:rPr>
                        <a:t>$100M</a:t>
                      </a:r>
                    </a:p>
                  </a:txBody>
                  <a:tcPr marL="109728" marR="109728" marT="45720" marB="45720">
                    <a:solidFill>
                      <a:srgbClr val="E6E3DA"/>
                    </a:solidFill>
                  </a:tcPr>
                </a:tc>
                <a:tc>
                  <a:txBody>
                    <a:bodyPr wrap="square"/>
                    <a:lstStyle/>
                    <a:p>
                      <a:pPr algn="r"/>
                      <a:r>
                        <a:rPr sz="1150" b="0">
                          <a:solidFill>
                            <a:srgbClr val="1C1B18"/>
                          </a:solidFill>
                          <a:latin typeface="Consolas"/>
                        </a:rPr>
                        <a:t>$385M</a:t>
                      </a:r>
                    </a:p>
                  </a:txBody>
                  <a:tcPr marL="109728" marR="109728" marT="45720" marB="45720">
                    <a:solidFill>
                      <a:srgbClr val="E6E3DA"/>
                    </a:solidFill>
                  </a:tcPr>
                </a:tc>
                <a:tc>
                  <a:txBody>
                    <a:bodyPr wrap="square"/>
                    <a:lstStyle/>
                    <a:p>
                      <a:pPr algn="r"/>
                      <a:r>
                        <a:rPr sz="1150" b="0">
                          <a:solidFill>
                            <a:srgbClr val="1C1B18"/>
                          </a:solidFill>
                          <a:latin typeface="Consolas"/>
                        </a:rPr>
                        <a:t>$680M</a:t>
                      </a:r>
                    </a:p>
                  </a:txBody>
                  <a:tcPr marL="109728" marR="109728" marT="45720" marB="45720">
                    <a:solidFill>
                      <a:srgbClr val="E6E3DA"/>
                    </a:solidFill>
                  </a:tcPr>
                </a:tc>
                <a:tc>
                  <a:txBody>
                    <a:bodyPr wrap="square"/>
                    <a:lstStyle/>
                    <a:p>
                      <a:pPr algn="r"/>
                      <a:r>
                        <a:rPr sz="1150" b="0">
                          <a:solidFill>
                            <a:srgbClr val="1C1B18"/>
                          </a:solidFill>
                          <a:latin typeface="Consolas"/>
                        </a:rPr>
                        <a:t>$3.1B</a:t>
                      </a:r>
                    </a:p>
                  </a:txBody>
                  <a:tcPr marL="109728" marR="109728" marT="45720" marB="45720">
                    <a:solidFill>
                      <a:srgbClr val="E6E3DA"/>
                    </a:solidFill>
                  </a:tcPr>
                </a:tc>
              </a:tr>
            </a:tbl>
          </a:graphicData>
        </a:graphic>
      </p:graphicFrame>
      <p:sp>
        <p:nvSpPr>
          <p:cNvPr id="6" name="TextBox 5"/>
          <p:cNvSpPr txBox="1"/>
          <p:nvPr/>
        </p:nvSpPr>
        <p:spPr>
          <a:xfrm>
            <a:off x="658368" y="2916936"/>
            <a:ext cx="5669280" cy="36576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SOM — three revenue lines, not one</a:t>
            </a:r>
          </a:p>
        </p:txBody>
      </p:sp>
      <p:graphicFrame>
        <p:nvGraphicFramePr>
          <p:cNvPr id="7" name="Table 6"/>
          <p:cNvGraphicFramePr>
            <a:graphicFrameLocks noGrp="1"/>
          </p:cNvGraphicFramePr>
          <p:nvPr/>
        </p:nvGraphicFramePr>
        <p:xfrm>
          <a:off x="658368" y="3374136"/>
          <a:ext cx="5669278" cy="1920240"/>
        </p:xfrm>
        <a:graphic>
          <a:graphicData uri="http://schemas.openxmlformats.org/drawingml/2006/table">
            <a:tbl>
              <a:tblPr firstRow="1" bandRow="1">
                <a:tableStyleId>{5C22544A-7EE6-4342-B048-85BDC9FD1C3A}</a:tableStyleId>
              </a:tblPr>
              <a:tblGrid>
                <a:gridCol w="2607868"/>
                <a:gridCol w="1530705"/>
                <a:gridCol w="1530705"/>
              </a:tblGrid>
              <a:tr h="384048">
                <a:tc>
                  <a:txBody>
                    <a:bodyPr wrap="square"/>
                    <a:lstStyle/>
                    <a:p>
                      <a:pPr algn="l"/>
                      <a:r>
                        <a:rPr sz="1150" b="1">
                          <a:solidFill>
                            <a:srgbClr val="E6E3DA"/>
                          </a:solidFill>
                          <a:latin typeface="Arial Narrow"/>
                        </a:rPr>
                        <a:t>Year-3 ARR</a:t>
                      </a:r>
                    </a:p>
                  </a:txBody>
                  <a:tcPr marL="109728" marR="109728" marT="45720" marB="45720">
                    <a:solidFill>
                      <a:srgbClr val="1C1B18"/>
                    </a:solidFill>
                  </a:tcPr>
                </a:tc>
                <a:tc>
                  <a:txBody>
                    <a:bodyPr wrap="square"/>
                    <a:lstStyle/>
                    <a:p>
                      <a:pPr algn="l"/>
                      <a:r>
                        <a:rPr sz="1150" b="1">
                          <a:solidFill>
                            <a:srgbClr val="E6E3DA"/>
                          </a:solidFill>
                          <a:latin typeface="Arial Narrow"/>
                        </a:rPr>
                        <a:t>Base</a:t>
                      </a:r>
                    </a:p>
                  </a:txBody>
                  <a:tcPr marL="109728" marR="109728" marT="45720" marB="45720">
                    <a:solidFill>
                      <a:srgbClr val="1C1B18"/>
                    </a:solidFill>
                  </a:tcPr>
                </a:tc>
                <a:tc>
                  <a:txBody>
                    <a:bodyPr wrap="square"/>
                    <a:lstStyle/>
                    <a:p>
                      <a:pPr algn="l"/>
                      <a:r>
                        <a:rPr sz="1150" b="1">
                          <a:solidFill>
                            <a:srgbClr val="E6E3DA"/>
                          </a:solidFill>
                          <a:latin typeface="Arial Narrow"/>
                        </a:rPr>
                        <a:t>Bull</a:t>
                      </a:r>
                    </a:p>
                  </a:txBody>
                  <a:tcPr marL="109728" marR="109728" marT="45720" marB="45720">
                    <a:solidFill>
                      <a:srgbClr val="1C1B18"/>
                    </a:solidFill>
                  </a:tcPr>
                </a:tc>
              </a:tr>
              <a:tr h="384048">
                <a:tc>
                  <a:txBody>
                    <a:bodyPr wrap="square"/>
                    <a:lstStyle/>
                    <a:p>
                      <a:pPr algn="l"/>
                      <a:r>
                        <a:rPr sz="1150" b="0">
                          <a:solidFill>
                            <a:srgbClr val="1C1B18"/>
                          </a:solidFill>
                          <a:latin typeface="Arial Narrow"/>
                        </a:rPr>
                        <a:t>Self-serve / hosted</a:t>
                      </a:r>
                    </a:p>
                  </a:txBody>
                  <a:tcPr marL="109728" marR="109728" marT="45720" marB="45720">
                    <a:solidFill>
                      <a:srgbClr val="DCD7C9"/>
                    </a:solidFill>
                  </a:tcPr>
                </a:tc>
                <a:tc>
                  <a:txBody>
                    <a:bodyPr wrap="square"/>
                    <a:lstStyle/>
                    <a:p>
                      <a:pPr algn="r"/>
                      <a:r>
                        <a:rPr sz="1150" b="0">
                          <a:solidFill>
                            <a:srgbClr val="1C1B18"/>
                          </a:solidFill>
                          <a:latin typeface="Consolas"/>
                        </a:rPr>
                        <a:t>$1.8M</a:t>
                      </a:r>
                    </a:p>
                  </a:txBody>
                  <a:tcPr marL="109728" marR="109728" marT="45720" marB="45720">
                    <a:solidFill>
                      <a:srgbClr val="DCD7C9"/>
                    </a:solidFill>
                  </a:tcPr>
                </a:tc>
                <a:tc>
                  <a:txBody>
                    <a:bodyPr wrap="square"/>
                    <a:lstStyle/>
                    <a:p>
                      <a:pPr algn="r"/>
                      <a:r>
                        <a:rPr sz="1150" b="0">
                          <a:solidFill>
                            <a:srgbClr val="1C1B18"/>
                          </a:solidFill>
                          <a:latin typeface="Consolas"/>
                        </a:rPr>
                        <a:t>$6.0M</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OEM / embedded</a:t>
                      </a:r>
                    </a:p>
                  </a:txBody>
                  <a:tcPr marL="109728" marR="109728" marT="45720" marB="45720">
                    <a:solidFill>
                      <a:srgbClr val="E6E3DA"/>
                    </a:solidFill>
                  </a:tcPr>
                </a:tc>
                <a:tc>
                  <a:txBody>
                    <a:bodyPr wrap="square"/>
                    <a:lstStyle/>
                    <a:p>
                      <a:pPr algn="r"/>
                      <a:r>
                        <a:rPr sz="1150" b="0">
                          <a:solidFill>
                            <a:srgbClr val="1C1B18"/>
                          </a:solidFill>
                          <a:latin typeface="Consolas"/>
                        </a:rPr>
                        <a:t>$600k</a:t>
                      </a:r>
                    </a:p>
                  </a:txBody>
                  <a:tcPr marL="109728" marR="109728" marT="45720" marB="45720">
                    <a:solidFill>
                      <a:srgbClr val="E6E3DA"/>
                    </a:solidFill>
                  </a:tcPr>
                </a:tc>
                <a:tc>
                  <a:txBody>
                    <a:bodyPr wrap="square"/>
                    <a:lstStyle/>
                    <a:p>
                      <a:pPr algn="r"/>
                      <a:r>
                        <a:rPr sz="1150" b="0">
                          <a:solidFill>
                            <a:srgbClr val="1C1B18"/>
                          </a:solidFill>
                          <a:latin typeface="Consolas"/>
                        </a:rPr>
                        <a:t>$4.5M</a:t>
                      </a:r>
                    </a:p>
                  </a:txBody>
                  <a:tcPr marL="109728" marR="109728" marT="45720" marB="45720">
                    <a:solidFill>
                      <a:srgbClr val="E6E3DA"/>
                    </a:solidFill>
                  </a:tcPr>
                </a:tc>
              </a:tr>
              <a:tr h="384048">
                <a:tc>
                  <a:txBody>
                    <a:bodyPr wrap="square"/>
                    <a:lstStyle/>
                    <a:p>
                      <a:pPr algn="l"/>
                      <a:r>
                        <a:rPr sz="1150" b="0">
                          <a:solidFill>
                            <a:srgbClr val="1C1B18"/>
                          </a:solidFill>
                          <a:latin typeface="Arial Narrow"/>
                        </a:rPr>
                        <a:t>Enterprise governance</a:t>
                      </a:r>
                    </a:p>
                  </a:txBody>
                  <a:tcPr marL="109728" marR="109728" marT="45720" marB="45720">
                    <a:solidFill>
                      <a:srgbClr val="DCD7C9"/>
                    </a:solidFill>
                  </a:tcPr>
                </a:tc>
                <a:tc>
                  <a:txBody>
                    <a:bodyPr wrap="square"/>
                    <a:lstStyle/>
                    <a:p>
                      <a:pPr algn="r"/>
                      <a:r>
                        <a:rPr sz="1150" b="0">
                          <a:solidFill>
                            <a:srgbClr val="1C1B18"/>
                          </a:solidFill>
                          <a:latin typeface="Consolas"/>
                        </a:rPr>
                        <a:t>$750k</a:t>
                      </a:r>
                    </a:p>
                  </a:txBody>
                  <a:tcPr marL="109728" marR="109728" marT="45720" marB="45720">
                    <a:solidFill>
                      <a:srgbClr val="DCD7C9"/>
                    </a:solidFill>
                  </a:tcPr>
                </a:tc>
                <a:tc>
                  <a:txBody>
                    <a:bodyPr wrap="square"/>
                    <a:lstStyle/>
                    <a:p>
                      <a:pPr algn="r"/>
                      <a:r>
                        <a:rPr sz="1150" b="0">
                          <a:solidFill>
                            <a:srgbClr val="1C1B18"/>
                          </a:solidFill>
                          <a:latin typeface="Consolas"/>
                        </a:rPr>
                        <a:t>$4.0M</a:t>
                      </a:r>
                    </a:p>
                  </a:txBody>
                  <a:tcPr marL="109728" marR="109728" marT="45720" marB="45720">
                    <a:solidFill>
                      <a:srgbClr val="DCD7C9"/>
                    </a:solidFill>
                  </a:tcPr>
                </a:tc>
              </a:tr>
              <a:tr h="384048">
                <a:tc>
                  <a:txBody>
                    <a:bodyPr wrap="square"/>
                    <a:lstStyle/>
                    <a:p>
                      <a:pPr algn="l"/>
                      <a:r>
                        <a:rPr sz="1150" b="0">
                          <a:solidFill>
                            <a:srgbClr val="1C1B18"/>
                          </a:solidFill>
                          <a:latin typeface="Arial Narrow"/>
                        </a:rPr>
                        <a:t>Total</a:t>
                      </a:r>
                    </a:p>
                  </a:txBody>
                  <a:tcPr marL="109728" marR="109728" marT="45720" marB="45720">
                    <a:solidFill>
                      <a:srgbClr val="E6E3DA"/>
                    </a:solidFill>
                  </a:tcPr>
                </a:tc>
                <a:tc>
                  <a:txBody>
                    <a:bodyPr wrap="square"/>
                    <a:lstStyle/>
                    <a:p>
                      <a:pPr algn="r"/>
                      <a:r>
                        <a:rPr sz="1150" b="1">
                          <a:solidFill>
                            <a:srgbClr val="0E6F52"/>
                          </a:solidFill>
                          <a:latin typeface="Consolas"/>
                        </a:rPr>
                        <a:t>$3.2M</a:t>
                      </a:r>
                    </a:p>
                  </a:txBody>
                  <a:tcPr marL="109728" marR="109728" marT="45720" marB="45720">
                    <a:solidFill>
                      <a:srgbClr val="E6E3DA"/>
                    </a:solidFill>
                  </a:tcPr>
                </a:tc>
                <a:tc>
                  <a:txBody>
                    <a:bodyPr wrap="square"/>
                    <a:lstStyle/>
                    <a:p>
                      <a:pPr algn="r"/>
                      <a:r>
                        <a:rPr sz="1150" b="1">
                          <a:solidFill>
                            <a:srgbClr val="0E6F52"/>
                          </a:solidFill>
                          <a:latin typeface="Consolas"/>
                        </a:rPr>
                        <a:t>$14.5M</a:t>
                      </a:r>
                    </a:p>
                  </a:txBody>
                  <a:tcPr marL="109728" marR="109728" marT="45720" marB="45720">
                    <a:solidFill>
                      <a:srgbClr val="E6E3DA"/>
                    </a:solidFill>
                  </a:tcPr>
                </a:tc>
              </a:tr>
            </a:tbl>
          </a:graphicData>
        </a:graphic>
      </p:graphicFrame>
      <p:sp>
        <p:nvSpPr>
          <p:cNvPr id="8" name="TextBox 7"/>
          <p:cNvSpPr txBox="1"/>
          <p:nvPr/>
        </p:nvSpPr>
        <p:spPr>
          <a:xfrm>
            <a:off x="6967728" y="3374136"/>
            <a:ext cx="4572000" cy="2011680"/>
          </a:xfrm>
          <a:prstGeom prst="rect">
            <a:avLst/>
          </a:prstGeom>
          <a:noFill/>
        </p:spPr>
        <p:txBody>
          <a:bodyPr wrap="square" lIns="0" rIns="0" tIns="0" bIns="0">
            <a:spAutoFit/>
          </a:bodyPr>
          <a:lstStyle/>
          <a:p>
            <a:pPr algn="l">
              <a:lnSpc>
                <a:spcPct val="145000"/>
              </a:lnSpc>
            </a:pPr>
            <a:r>
              <a:rPr sz="1300" b="0">
                <a:solidFill>
                  <a:srgbClr val="4F4B42"/>
                </a:solidFill>
                <a:latin typeface="Arial Narrow"/>
              </a:rPr>
              <a:t>2029 applies a 6.8x multiplier, compounded from the 36% CAGR published for the adjacent LLM-observability category — slower than the 44–49% published for AI agents specifically, so the base case is conservative before the bull column is even read. The bull SOM needs ~25k OSS installs, 6% conversion and nine embedded deals.</a:t>
            </a:r>
          </a:p>
        </p:txBody>
      </p:sp>
      <p:sp>
        <p:nvSpPr>
          <p:cNvPr id="9" name="TextBox 8"/>
          <p:cNvSpPr txBox="1"/>
          <p:nvPr/>
        </p:nvSpPr>
        <p:spPr>
          <a:xfrm>
            <a:off x="6967728" y="4718304"/>
            <a:ext cx="1737360" cy="182880"/>
          </a:xfrm>
          <a:prstGeom prst="rect">
            <a:avLst/>
          </a:prstGeom>
          <a:noFill/>
        </p:spPr>
        <p:txBody>
          <a:bodyPr wrap="square" lIns="0" rIns="0" tIns="0" bIns="0">
            <a:spAutoFit/>
          </a:bodyPr>
          <a:lstStyle/>
          <a:p>
            <a:pPr algn="l">
              <a:lnSpc>
                <a:spcPct val="125000"/>
              </a:lnSpc>
            </a:pPr>
            <a:r>
              <a:rPr sz="900" b="1" spc="126">
                <a:solidFill>
                  <a:srgbClr val="1B4B8F"/>
                </a:solidFill>
                <a:latin typeface="Arial Narrow"/>
              </a:rPr>
              <a:t>EXTRAPOLATED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HOW IT EARNS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Open core, priced per agent.</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6766559" cy="1536192"/>
        </p:xfrm>
        <a:graphic>
          <a:graphicData uri="http://schemas.openxmlformats.org/drawingml/2006/table">
            <a:tbl>
              <a:tblPr firstRow="1" bandRow="1">
                <a:tableStyleId>{5C22544A-7EE6-4342-B048-85BDC9FD1C3A}</a:tableStyleId>
              </a:tblPr>
              <a:tblGrid>
                <a:gridCol w="1488643"/>
                <a:gridCol w="2029968"/>
                <a:gridCol w="1759305"/>
                <a:gridCol w="1488643"/>
              </a:tblGrid>
              <a:tr h="384048">
                <a:tc>
                  <a:txBody>
                    <a:bodyPr wrap="square"/>
                    <a:lstStyle/>
                    <a:p>
                      <a:pPr algn="l"/>
                      <a:r>
                        <a:rPr sz="1200" b="1">
                          <a:solidFill>
                            <a:srgbClr val="E6E3DA"/>
                          </a:solidFill>
                          <a:latin typeface="Arial Narrow"/>
                        </a:rPr>
                        <a:t>Tier</a:t>
                      </a:r>
                    </a:p>
                  </a:txBody>
                  <a:tcPr marL="109728" marR="109728" marT="45720" marB="45720">
                    <a:solidFill>
                      <a:srgbClr val="1C1B18"/>
                    </a:solidFill>
                  </a:tcPr>
                </a:tc>
                <a:tc>
                  <a:txBody>
                    <a:bodyPr wrap="square"/>
                    <a:lstStyle/>
                    <a:p>
                      <a:pPr algn="l"/>
                      <a:r>
                        <a:rPr sz="1200" b="1">
                          <a:solidFill>
                            <a:srgbClr val="E6E3DA"/>
                          </a:solidFill>
                          <a:latin typeface="Arial Narrow"/>
                        </a:rPr>
                        <a:t>Price</a:t>
                      </a:r>
                    </a:p>
                  </a:txBody>
                  <a:tcPr marL="109728" marR="109728" marT="45720" marB="45720">
                    <a:solidFill>
                      <a:srgbClr val="1C1B18"/>
                    </a:solidFill>
                  </a:tcPr>
                </a:tc>
                <a:tc>
                  <a:txBody>
                    <a:bodyPr wrap="square"/>
                    <a:lstStyle/>
                    <a:p>
                      <a:pPr algn="l"/>
                      <a:r>
                        <a:rPr sz="1200" b="1">
                          <a:solidFill>
                            <a:srgbClr val="E6E3DA"/>
                          </a:solidFill>
                          <a:latin typeface="Arial Narrow"/>
                        </a:rPr>
                        <a:t>Typical fleet</a:t>
                      </a:r>
                    </a:p>
                  </a:txBody>
                  <a:tcPr marL="109728" marR="109728" marT="45720" marB="45720">
                    <a:solidFill>
                      <a:srgbClr val="1C1B18"/>
                    </a:solidFill>
                  </a:tcPr>
                </a:tc>
                <a:tc>
                  <a:txBody>
                    <a:bodyPr wrap="square"/>
                    <a:lstStyle/>
                    <a:p>
                      <a:pPr algn="l"/>
                      <a:r>
                        <a:rPr sz="1200" b="1">
                          <a:solidFill>
                            <a:srgbClr val="E6E3DA"/>
                          </a:solidFill>
                          <a:latin typeface="Arial Narrow"/>
                        </a:rPr>
                        <a:t>ACV</a:t>
                      </a:r>
                    </a:p>
                  </a:txBody>
                  <a:tcPr marL="109728" marR="109728" marT="45720" marB="45720">
                    <a:solidFill>
                      <a:srgbClr val="1C1B18"/>
                    </a:solidFill>
                  </a:tcPr>
                </a:tc>
              </a:tr>
              <a:tr h="384048">
                <a:tc>
                  <a:txBody>
                    <a:bodyPr wrap="square"/>
                    <a:lstStyle/>
                    <a:p>
                      <a:pPr algn="l"/>
                      <a:r>
                        <a:rPr sz="1200" b="0">
                          <a:solidFill>
                            <a:srgbClr val="1C1B18"/>
                          </a:solidFill>
                          <a:latin typeface="Arial Narrow"/>
                        </a:rPr>
                        <a:t>Team</a:t>
                      </a:r>
                    </a:p>
                  </a:txBody>
                  <a:tcPr marL="109728" marR="109728" marT="45720" marB="45720">
                    <a:solidFill>
                      <a:srgbClr val="DCD7C9"/>
                    </a:solidFill>
                  </a:tcPr>
                </a:tc>
                <a:tc>
                  <a:txBody>
                    <a:bodyPr wrap="square"/>
                    <a:lstStyle/>
                    <a:p>
                      <a:pPr algn="r"/>
                      <a:r>
                        <a:rPr sz="1200" b="0">
                          <a:solidFill>
                            <a:srgbClr val="1C1B18"/>
                          </a:solidFill>
                          <a:latin typeface="Consolas"/>
                        </a:rPr>
                        <a:t>$25 / agent / mo</a:t>
                      </a:r>
                    </a:p>
                  </a:txBody>
                  <a:tcPr marL="109728" marR="109728" marT="45720" marB="45720">
                    <a:solidFill>
                      <a:srgbClr val="DCD7C9"/>
                    </a:solidFill>
                  </a:tcPr>
                </a:tc>
                <a:tc>
                  <a:txBody>
                    <a:bodyPr wrap="square"/>
                    <a:lstStyle/>
                    <a:p>
                      <a:pPr algn="r"/>
                      <a:r>
                        <a:rPr sz="1200" b="0">
                          <a:solidFill>
                            <a:srgbClr val="1C1B18"/>
                          </a:solidFill>
                          <a:latin typeface="Consolas"/>
                        </a:rPr>
                        <a:t>10 agents</a:t>
                      </a:r>
                    </a:p>
                  </a:txBody>
                  <a:tcPr marL="109728" marR="109728" marT="45720" marB="45720">
                    <a:solidFill>
                      <a:srgbClr val="DCD7C9"/>
                    </a:solidFill>
                  </a:tcPr>
                </a:tc>
                <a:tc>
                  <a:txBody>
                    <a:bodyPr wrap="square"/>
                    <a:lstStyle/>
                    <a:p>
                      <a:pPr algn="r"/>
                      <a:r>
                        <a:rPr sz="1200" b="0">
                          <a:solidFill>
                            <a:srgbClr val="1C1B18"/>
                          </a:solidFill>
                          <a:latin typeface="Consolas"/>
                        </a:rPr>
                        <a:t>$3,000</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Growth</a:t>
                      </a:r>
                    </a:p>
                  </a:txBody>
                  <a:tcPr marL="109728" marR="109728" marT="45720" marB="45720">
                    <a:solidFill>
                      <a:srgbClr val="E6E3DA"/>
                    </a:solidFill>
                  </a:tcPr>
                </a:tc>
                <a:tc>
                  <a:txBody>
                    <a:bodyPr wrap="square"/>
                    <a:lstStyle/>
                    <a:p>
                      <a:pPr algn="r"/>
                      <a:r>
                        <a:rPr sz="1200" b="0">
                          <a:solidFill>
                            <a:srgbClr val="1C1B18"/>
                          </a:solidFill>
                          <a:latin typeface="Consolas"/>
                        </a:rPr>
                        <a:t>$40 / agent / mo</a:t>
                      </a:r>
                    </a:p>
                  </a:txBody>
                  <a:tcPr marL="109728" marR="109728" marT="45720" marB="45720">
                    <a:solidFill>
                      <a:srgbClr val="E6E3DA"/>
                    </a:solidFill>
                  </a:tcPr>
                </a:tc>
                <a:tc>
                  <a:txBody>
                    <a:bodyPr wrap="square"/>
                    <a:lstStyle/>
                    <a:p>
                      <a:pPr algn="r"/>
                      <a:r>
                        <a:rPr sz="1200" b="0">
                          <a:solidFill>
                            <a:srgbClr val="1C1B18"/>
                          </a:solidFill>
                          <a:latin typeface="Consolas"/>
                        </a:rPr>
                        <a:t>25 agents</a:t>
                      </a:r>
                    </a:p>
                  </a:txBody>
                  <a:tcPr marL="109728" marR="109728" marT="45720" marB="45720">
                    <a:solidFill>
                      <a:srgbClr val="E6E3DA"/>
                    </a:solidFill>
                  </a:tcPr>
                </a:tc>
                <a:tc>
                  <a:txBody>
                    <a:bodyPr wrap="square"/>
                    <a:lstStyle/>
                    <a:p>
                      <a:pPr algn="r"/>
                      <a:r>
                        <a:rPr sz="1200" b="0">
                          <a:solidFill>
                            <a:srgbClr val="1C1B18"/>
                          </a:solidFill>
                          <a:latin typeface="Consolas"/>
                        </a:rPr>
                        <a:t>$12,000</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Platform</a:t>
                      </a:r>
                    </a:p>
                  </a:txBody>
                  <a:tcPr marL="109728" marR="109728" marT="45720" marB="45720">
                    <a:solidFill>
                      <a:srgbClr val="DCD7C9"/>
                    </a:solidFill>
                  </a:tcPr>
                </a:tc>
                <a:tc>
                  <a:txBody>
                    <a:bodyPr wrap="square"/>
                    <a:lstStyle/>
                    <a:p>
                      <a:pPr algn="r"/>
                      <a:r>
                        <a:rPr sz="1200" b="0">
                          <a:solidFill>
                            <a:srgbClr val="1C1B18"/>
                          </a:solidFill>
                          <a:latin typeface="Consolas"/>
                        </a:rPr>
                        <a:t>$60 / agent / mo</a:t>
                      </a:r>
                    </a:p>
                  </a:txBody>
                  <a:tcPr marL="109728" marR="109728" marT="45720" marB="45720">
                    <a:solidFill>
                      <a:srgbClr val="DCD7C9"/>
                    </a:solidFill>
                  </a:tcPr>
                </a:tc>
                <a:tc>
                  <a:txBody>
                    <a:bodyPr wrap="square"/>
                    <a:lstStyle/>
                    <a:p>
                      <a:pPr algn="r"/>
                      <a:r>
                        <a:rPr sz="1200" b="0">
                          <a:solidFill>
                            <a:srgbClr val="1C1B18"/>
                          </a:solidFill>
                          <a:latin typeface="Consolas"/>
                        </a:rPr>
                        <a:t>75+ agents</a:t>
                      </a:r>
                    </a:p>
                  </a:txBody>
                  <a:tcPr marL="109728" marR="109728" marT="45720" marB="45720">
                    <a:solidFill>
                      <a:srgbClr val="DCD7C9"/>
                    </a:solidFill>
                  </a:tcPr>
                </a:tc>
                <a:tc>
                  <a:txBody>
                    <a:bodyPr wrap="square"/>
                    <a:lstStyle/>
                    <a:p>
                      <a:pPr algn="r"/>
                      <a:r>
                        <a:rPr sz="1200" b="1">
                          <a:solidFill>
                            <a:srgbClr val="0E6F52"/>
                          </a:solidFill>
                          <a:latin typeface="Consolas"/>
                        </a:rPr>
                        <a:t>$54,000+</a:t>
                      </a:r>
                    </a:p>
                  </a:txBody>
                  <a:tcPr marL="109728" marR="109728" marT="45720" marB="45720">
                    <a:solidFill>
                      <a:srgbClr val="DCD7C9"/>
                    </a:solidFill>
                  </a:tcPr>
                </a:tc>
              </a:tr>
            </a:tbl>
          </a:graphicData>
        </a:graphic>
      </p:graphicFrame>
      <p:sp>
        <p:nvSpPr>
          <p:cNvPr id="6" name="TextBox 5"/>
          <p:cNvSpPr txBox="1"/>
          <p:nvPr/>
        </p:nvSpPr>
        <p:spPr>
          <a:xfrm>
            <a:off x="658368" y="3328416"/>
            <a:ext cx="6766560" cy="1371600"/>
          </a:xfrm>
          <a:prstGeom prst="rect">
            <a:avLst/>
          </a:prstGeom>
          <a:noFill/>
        </p:spPr>
        <p:txBody>
          <a:bodyPr wrap="square" lIns="0" rIns="0" tIns="0" bIns="0">
            <a:spAutoFit/>
          </a:bodyPr>
          <a:lstStyle/>
          <a:p>
            <a:pPr algn="l">
              <a:lnSpc>
                <a:spcPct val="150000"/>
              </a:lnSpc>
            </a:pPr>
            <a:r>
              <a:rPr sz="1500" b="0">
                <a:solidFill>
                  <a:srgbClr val="1C1B18"/>
                </a:solidFill>
                <a:latin typeface="Arial Narrow"/>
              </a:rPr>
              <a:t>Free forever: detector, breaker, calibration, adapters — Apache-2.0.</a:t>
            </a:r>
          </a:p>
          <a:p>
            <a:pPr algn="l">
              <a:lnSpc>
                <a:spcPct val="150000"/>
              </a:lnSpc>
            </a:pPr>
            <a:r>
              <a:rPr sz="1500" b="0">
                <a:solidFill>
                  <a:srgbClr val="1C1B18"/>
                </a:solidFill>
                <a:latin typeface="Arial Narrow"/>
              </a:rPr>
              <a:t>Paid: the hosted control plane — fleet dashboards, cross-run calibration priors, alerting, a signed trip audit log.</a:t>
            </a:r>
          </a:p>
        </p:txBody>
      </p:sp>
      <p:sp>
        <p:nvSpPr>
          <p:cNvPr id="7" name="Rectangle 6"/>
          <p:cNvSpPr/>
          <p:nvPr/>
        </p:nvSpPr>
        <p:spPr>
          <a:xfrm>
            <a:off x="7973568" y="1636776"/>
            <a:ext cx="3566160" cy="265176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4736" y="1847088"/>
            <a:ext cx="3200400" cy="2286000"/>
          </a:xfrm>
          <a:prstGeom prst="rect">
            <a:avLst/>
          </a:prstGeom>
          <a:noFill/>
        </p:spPr>
        <p:txBody>
          <a:bodyPr wrap="square" lIns="0" rIns="0" tIns="0" bIns="0">
            <a:spAutoFit/>
          </a:bodyPr>
          <a:lstStyle/>
          <a:p>
            <a:pPr algn="l">
              <a:lnSpc>
                <a:spcPct val="150000"/>
              </a:lnSpc>
            </a:pPr>
            <a:r>
              <a:rPr sz="1150" b="0">
                <a:solidFill>
                  <a:srgbClr val="4F4B42"/>
                </a:solidFill>
                <a:latin typeface="Consolas"/>
              </a:rPr>
              <a:t>Priced per agent,</a:t>
            </a:r>
          </a:p>
          <a:p>
            <a:pPr algn="l">
              <a:lnSpc>
                <a:spcPct val="150000"/>
              </a:lnSpc>
            </a:pPr>
            <a:r>
              <a:rPr sz="1150" b="0">
                <a:solidFill>
                  <a:srgbClr val="4F4B42"/>
                </a:solidFill>
                <a:latin typeface="Consolas"/>
              </a:rPr>
              <a:t>never per turn.</a:t>
            </a:r>
          </a:p>
          <a:p>
            <a:pPr algn="l">
              <a:lnSpc>
                <a:spcPct val="150000"/>
              </a:lnSpc>
            </a:pPr>
            <a:r>
              <a:rPr sz="1150" b="0">
                <a:solidFill>
                  <a:srgbClr val="4F4B42"/>
                </a:solidFill>
                <a:latin typeface="Consolas"/>
              </a:rPr>
              <a:t/>
            </a:r>
          </a:p>
          <a:p>
            <a:pPr algn="l">
              <a:lnSpc>
                <a:spcPct val="150000"/>
              </a:lnSpc>
            </a:pPr>
            <a:r>
              <a:rPr sz="1150" b="0">
                <a:solidFill>
                  <a:srgbClr val="4F4B42"/>
                </a:solidFill>
                <a:latin typeface="Consolas"/>
              </a:rPr>
              <a:t>Never price against the</a:t>
            </a:r>
          </a:p>
          <a:p>
            <a:pPr algn="l">
              <a:lnSpc>
                <a:spcPct val="150000"/>
              </a:lnSpc>
            </a:pPr>
            <a:r>
              <a:rPr sz="1150" b="0">
                <a:solidFill>
                  <a:srgbClr val="4F4B42"/>
                </a:solidFill>
                <a:latin typeface="Consolas"/>
              </a:rPr>
              <a:t>metric your customer</a:t>
            </a:r>
          </a:p>
          <a:p>
            <a:pPr algn="l">
              <a:lnSpc>
                <a:spcPct val="150000"/>
              </a:lnSpc>
            </a:pPr>
            <a:r>
              <a:rPr sz="1150" b="0">
                <a:solidFill>
                  <a:srgbClr val="4F4B42"/>
                </a:solidFill>
                <a:latin typeface="Consolas"/>
              </a:rPr>
              <a:t>is trying to reduce.</a:t>
            </a:r>
          </a:p>
          <a:p>
            <a:pPr algn="l">
              <a:lnSpc>
                <a:spcPct val="150000"/>
              </a:lnSpc>
            </a:pPr>
            <a:r>
              <a:rPr sz="1150" b="0">
                <a:solidFill>
                  <a:srgbClr val="4F4B42"/>
                </a:solidFill>
                <a:latin typeface="Consolas"/>
              </a:rPr>
              <a:t/>
            </a:r>
          </a:p>
          <a:p>
            <a:pPr algn="l">
              <a:lnSpc>
                <a:spcPct val="150000"/>
              </a:lnSpc>
            </a:pPr>
            <a:r>
              <a:rPr sz="1150" b="0">
                <a:solidFill>
                  <a:srgbClr val="4F4B42"/>
                </a:solidFill>
                <a:latin typeface="Consolas"/>
              </a:rPr>
              <a:t>Fleets only grow — the</a:t>
            </a:r>
          </a:p>
          <a:p>
            <a:pPr algn="l">
              <a:lnSpc>
                <a:spcPct val="150000"/>
              </a:lnSpc>
            </a:pPr>
            <a:r>
              <a:rPr sz="1150" b="0">
                <a:solidFill>
                  <a:srgbClr val="4F4B42"/>
                </a:solidFill>
                <a:latin typeface="Consolas"/>
              </a:rPr>
              <a:t>same customer is worth</a:t>
            </a:r>
          </a:p>
          <a:p>
            <a:pPr algn="l">
              <a:lnSpc>
                <a:spcPct val="150000"/>
              </a:lnSpc>
            </a:pPr>
            <a:r>
              <a:rPr sz="1150" b="0">
                <a:solidFill>
                  <a:srgbClr val="4F4B42"/>
                </a:solidFill>
                <a:latin typeface="Consolas"/>
              </a:rPr>
              <a:t>4x more in year two.</a:t>
            </a:r>
          </a:p>
        </p:txBody>
      </p:sp>
      <p:sp>
        <p:nvSpPr>
          <p:cNvPr id="9" name="Rectangle 8"/>
          <p:cNvSpPr/>
          <p:nvPr/>
        </p:nvSpPr>
        <p:spPr>
          <a:xfrm>
            <a:off x="658368" y="470001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82896"/>
            <a:ext cx="10874959" cy="457200"/>
          </a:xfrm>
          <a:prstGeom prst="rect">
            <a:avLst/>
          </a:prstGeom>
          <a:noFill/>
        </p:spPr>
        <p:txBody>
          <a:bodyPr wrap="square" lIns="0" rIns="0" tIns="0" bIns="0">
            <a:spAutoFit/>
          </a:bodyPr>
          <a:lstStyle/>
          <a:p>
            <a:pPr algn="l">
              <a:lnSpc>
                <a:spcPct val="125000"/>
              </a:lnSpc>
            </a:pPr>
            <a:r>
              <a:rPr sz="1400" b="0">
                <a:solidFill>
                  <a:srgbClr val="4F4B42"/>
                </a:solidFill>
                <a:latin typeface="Arial Narrow"/>
              </a:rPr>
              <a:t>Rejected: savings-share. Unattributable, adversarial at renewal, and it would pay us to trip more often.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GO TO MARKET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benchmark is the marketing.</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36776"/>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0 · 0–3 months</a:t>
            </a:r>
          </a:p>
        </p:txBody>
      </p:sp>
      <p:sp>
        <p:nvSpPr>
          <p:cNvPr id="6" name="TextBox 5"/>
          <p:cNvSpPr txBox="1"/>
          <p:nvPr/>
        </p:nvSpPr>
        <p:spPr>
          <a:xfrm>
            <a:off x="3035808" y="1609344"/>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Credibility</a:t>
            </a:r>
          </a:p>
        </p:txBody>
      </p:sp>
      <p:sp>
        <p:nvSpPr>
          <p:cNvPr id="7" name="TextBox 6"/>
          <p:cNvSpPr txBox="1"/>
          <p:nvPr/>
        </p:nvSpPr>
        <p:spPr>
          <a:xfrm>
            <a:off x="4773168" y="1618488"/>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PyPI release. README leads with the prior-art table and our measured false-trip rate. Benchmark published standalone. Target framework maintainers, not end users.</a:t>
            </a:r>
          </a:p>
        </p:txBody>
      </p:sp>
      <p:sp>
        <p:nvSpPr>
          <p:cNvPr id="8" name="TextBox 7"/>
          <p:cNvSpPr txBox="1"/>
          <p:nvPr/>
        </p:nvSpPr>
        <p:spPr>
          <a:xfrm>
            <a:off x="658368" y="2386584"/>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1 · 3–9 months</a:t>
            </a:r>
          </a:p>
        </p:txBody>
      </p:sp>
      <p:sp>
        <p:nvSpPr>
          <p:cNvPr id="9" name="TextBox 8"/>
          <p:cNvSpPr txBox="1"/>
          <p:nvPr/>
        </p:nvSpPr>
        <p:spPr>
          <a:xfrm>
            <a:off x="3035808" y="2359152"/>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Distribution</a:t>
            </a:r>
          </a:p>
        </p:txBody>
      </p:sp>
      <p:sp>
        <p:nvSpPr>
          <p:cNvPr id="10" name="TextBox 9"/>
          <p:cNvSpPr txBox="1"/>
          <p:nvPr/>
        </p:nvSpPr>
        <p:spPr>
          <a:xfrm>
            <a:off x="4773168" y="2368296"/>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Upstream PRs into Strands, LangGraph and OpenHands hook APIs. OpenHands #5355 and #5480 are maintainer-filed open bugs our design fixes — an inbound channel, and free.</a:t>
            </a:r>
          </a:p>
        </p:txBody>
      </p:sp>
      <p:sp>
        <p:nvSpPr>
          <p:cNvPr id="11" name="TextBox 10"/>
          <p:cNvSpPr txBox="1"/>
          <p:nvPr/>
        </p:nvSpPr>
        <p:spPr>
          <a:xfrm>
            <a:off x="658368" y="3136392"/>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2 · 9–18 months</a:t>
            </a:r>
          </a:p>
        </p:txBody>
      </p:sp>
      <p:sp>
        <p:nvSpPr>
          <p:cNvPr id="12" name="TextBox 11"/>
          <p:cNvSpPr txBox="1"/>
          <p:nvPr/>
        </p:nvSpPr>
        <p:spPr>
          <a:xfrm>
            <a:off x="3035808" y="3108960"/>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Monetisation</a:t>
            </a:r>
          </a:p>
        </p:txBody>
      </p:sp>
      <p:sp>
        <p:nvSpPr>
          <p:cNvPr id="13" name="TextBox 12"/>
          <p:cNvSpPr txBox="1"/>
          <p:nvPr/>
        </p:nvSpPr>
        <p:spPr>
          <a:xfrm>
            <a:off x="4773168" y="3118104"/>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Hosted control plane for teams running 5+ agents. The wedge is cross-run calibration priors: a new agent starts warm instead of cold. Needs fleet data, so it compounds.</a:t>
            </a:r>
          </a:p>
        </p:txBody>
      </p:sp>
      <p:sp>
        <p:nvSpPr>
          <p:cNvPr id="14" name="TextBox 13"/>
          <p:cNvSpPr txBox="1"/>
          <p:nvPr/>
        </p:nvSpPr>
        <p:spPr>
          <a:xfrm>
            <a:off x="658368" y="3886200"/>
            <a:ext cx="2286000" cy="219456"/>
          </a:xfrm>
          <a:prstGeom prst="rect">
            <a:avLst/>
          </a:prstGeom>
          <a:noFill/>
        </p:spPr>
        <p:txBody>
          <a:bodyPr wrap="square" lIns="0" rIns="0" tIns="0" bIns="0">
            <a:spAutoFit/>
          </a:bodyPr>
          <a:lstStyle/>
          <a:p>
            <a:pPr algn="l">
              <a:lnSpc>
                <a:spcPct val="125000"/>
              </a:lnSpc>
            </a:pPr>
            <a:r>
              <a:rPr sz="1050" b="0">
                <a:solidFill>
                  <a:srgbClr val="6E695C"/>
                </a:solidFill>
                <a:latin typeface="Consolas"/>
              </a:rPr>
              <a:t>Phase 3 · 18 months +</a:t>
            </a:r>
          </a:p>
        </p:txBody>
      </p:sp>
      <p:sp>
        <p:nvSpPr>
          <p:cNvPr id="15" name="TextBox 14"/>
          <p:cNvSpPr txBox="1"/>
          <p:nvPr/>
        </p:nvSpPr>
        <p:spPr>
          <a:xfrm>
            <a:off x="3035808" y="3858768"/>
            <a:ext cx="1828800" cy="274320"/>
          </a:xfrm>
          <a:prstGeom prst="rect">
            <a:avLst/>
          </a:prstGeom>
          <a:noFill/>
        </p:spPr>
        <p:txBody>
          <a:bodyPr wrap="square" lIns="0" rIns="0" tIns="0" bIns="0">
            <a:spAutoFit/>
          </a:bodyPr>
          <a:lstStyle/>
          <a:p>
            <a:pPr algn="l">
              <a:lnSpc>
                <a:spcPct val="125000"/>
              </a:lnSpc>
            </a:pPr>
            <a:r>
              <a:rPr sz="1500" b="1">
                <a:solidFill>
                  <a:srgbClr val="1C1B18"/>
                </a:solidFill>
                <a:latin typeface="Arial Narrow"/>
              </a:rPr>
              <a:t>Category</a:t>
            </a:r>
          </a:p>
        </p:txBody>
      </p:sp>
      <p:sp>
        <p:nvSpPr>
          <p:cNvPr id="16" name="TextBox 15"/>
          <p:cNvSpPr txBox="1"/>
          <p:nvPr/>
        </p:nvSpPr>
        <p:spPr>
          <a:xfrm>
            <a:off x="4773168" y="3867912"/>
            <a:ext cx="6766560" cy="566928"/>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Governance, audit, policy — sold to platform teams. No longer a loop detector: the control plane for autonomous agents.</a:t>
            </a:r>
          </a:p>
        </p:txBody>
      </p:sp>
      <p:sp>
        <p:nvSpPr>
          <p:cNvPr id="17" name="Rectangle 16"/>
          <p:cNvSpPr/>
          <p:nvPr/>
        </p:nvSpPr>
        <p:spPr>
          <a:xfrm>
            <a:off x="658368" y="465429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4837176"/>
            <a:ext cx="10874959" cy="457200"/>
          </a:xfrm>
          <a:prstGeom prst="rect">
            <a:avLst/>
          </a:prstGeom>
          <a:noFill/>
        </p:spPr>
        <p:txBody>
          <a:bodyPr wrap="square" lIns="0" rIns="0" tIns="0" bIns="0">
            <a:spAutoFit/>
          </a:bodyPr>
          <a:lstStyle/>
          <a:p>
            <a:pPr algn="l">
              <a:lnSpc>
                <a:spcPct val="135000"/>
              </a:lnSpc>
            </a:pPr>
            <a:r>
              <a:rPr sz="1500" b="0">
                <a:solidFill>
                  <a:srgbClr val="1C1B18"/>
                </a:solidFill>
                <a:latin typeface="Arial Narrow"/>
              </a:rPr>
              <a:t>Beachhead: teams running unattended coding agents. They read the token bill, can install a library, and already sit on frameworks with hook APIs.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WHY THIS IS A CATEGORY, NOT A FEATURE</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The bear case is "a framework absorbs it". Here is the ceiling.</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36776"/>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64792"/>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Progress guards are the first of several primitives.</a:t>
            </a:r>
          </a:p>
        </p:txBody>
      </p:sp>
      <p:sp>
        <p:nvSpPr>
          <p:cNvPr id="7" name="TextBox 6"/>
          <p:cNvSpPr txBox="1"/>
          <p:nvPr/>
        </p:nvSpPr>
        <p:spPr>
          <a:xfrm>
            <a:off x="658368" y="2057400"/>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Budget ceilings, escalation policy, stopping conditions, human-in-the-loop triggers — all in-loop control, all on the same hook surface. Ship the first credible one and you are positioned to ship the rest.</a:t>
            </a:r>
          </a:p>
        </p:txBody>
      </p:sp>
      <p:sp>
        <p:nvSpPr>
          <p:cNvPr id="8" name="Rectangle 7"/>
          <p:cNvSpPr/>
          <p:nvPr/>
        </p:nvSpPr>
        <p:spPr>
          <a:xfrm>
            <a:off x="658368" y="2496312"/>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24328"/>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Calibration priors are a real data network effect.</a:t>
            </a:r>
          </a:p>
        </p:txBody>
      </p:sp>
      <p:sp>
        <p:nvSpPr>
          <p:cNvPr id="10" name="TextBox 9"/>
          <p:cNvSpPr txBox="1"/>
          <p:nvPr/>
        </p:nvSpPr>
        <p:spPr>
          <a:xfrm>
            <a:off x="658368" y="2916936"/>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Learned baselines across many agents and task types improve with every customer. No framework has cross-customer data to build them from.</a:t>
            </a:r>
          </a:p>
        </p:txBody>
      </p:sp>
      <p:sp>
        <p:nvSpPr>
          <p:cNvPr id="11" name="Rectangle 10"/>
          <p:cNvSpPr/>
          <p:nvPr/>
        </p:nvSpPr>
        <p:spPr>
          <a:xfrm>
            <a:off x="658368" y="3355848"/>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483864"/>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Frameworks want to stay neutral.</a:t>
            </a:r>
          </a:p>
        </p:txBody>
      </p:sp>
      <p:sp>
        <p:nvSpPr>
          <p:cNvPr id="13" name="TextBox 12"/>
          <p:cNvSpPr txBox="1"/>
          <p:nvPr/>
        </p:nvSpPr>
        <p:spPr>
          <a:xfrm>
            <a:off x="658368" y="3776472"/>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LangGraph no more wants to ship an opinionated behavioural detector than Kubernetes wanted to ship a service mesh. That gap is where Istio and Linkerd became companies.</a:t>
            </a:r>
          </a:p>
        </p:txBody>
      </p:sp>
      <p:sp>
        <p:nvSpPr>
          <p:cNvPr id="14" name="Rectangle 13"/>
          <p:cNvSpPr/>
          <p:nvPr/>
        </p:nvSpPr>
        <p:spPr>
          <a:xfrm>
            <a:off x="658368" y="4215384"/>
            <a:ext cx="384048" cy="31750"/>
          </a:xfrm>
          <a:prstGeom prst="rect">
            <a:avLst/>
          </a:prstGeom>
          <a:solidFill>
            <a:srgbClr val="0E6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4343400"/>
            <a:ext cx="10874959" cy="274320"/>
          </a:xfrm>
          <a:prstGeom prst="rect">
            <a:avLst/>
          </a:prstGeom>
          <a:noFill/>
        </p:spPr>
        <p:txBody>
          <a:bodyPr wrap="square" lIns="0" rIns="0" tIns="0" bIns="0">
            <a:spAutoFit/>
          </a:bodyPr>
          <a:lstStyle/>
          <a:p>
            <a:pPr algn="l">
              <a:lnSpc>
                <a:spcPct val="125000"/>
              </a:lnSpc>
            </a:pPr>
            <a:r>
              <a:rPr sz="1600" b="1">
                <a:solidFill>
                  <a:srgbClr val="1C1B18"/>
                </a:solidFill>
                <a:latin typeface="Arial Narrow"/>
              </a:rPr>
              <a:t>The benchmark defines the category.</a:t>
            </a:r>
          </a:p>
        </p:txBody>
      </p:sp>
      <p:sp>
        <p:nvSpPr>
          <p:cNvPr id="16" name="TextBox 15"/>
          <p:cNvSpPr txBox="1"/>
          <p:nvPr/>
        </p:nvSpPr>
        <p:spPr>
          <a:xfrm>
            <a:off x="658368" y="4636008"/>
            <a:ext cx="10600639" cy="457200"/>
          </a:xfrm>
          <a:prstGeom prst="rect">
            <a:avLst/>
          </a:prstGeom>
          <a:noFill/>
        </p:spPr>
        <p:txBody>
          <a:bodyPr wrap="square" lIns="0" rIns="0" tIns="0" bIns="0">
            <a:spAutoFit/>
          </a:bodyPr>
          <a:lstStyle/>
          <a:p>
            <a:pPr algn="l">
              <a:lnSpc>
                <a:spcPct val="135000"/>
              </a:lnSpc>
            </a:pPr>
            <a:r>
              <a:rPr sz="1250" b="0">
                <a:solidFill>
                  <a:srgbClr val="4F4B42"/>
                </a:solidFill>
                <a:latin typeface="Arial Narrow"/>
              </a:rPr>
              <a:t>Whoever owns the standard evaluation for agent stall detection defines how everyone reports. We already have the head start, and nobody else publishes it.</a:t>
            </a:r>
          </a:p>
        </p:txBody>
      </p:sp>
      <p:sp>
        <p:nvSpPr>
          <p:cNvPr id="17" name="TextBox 16"/>
          <p:cNvSpPr txBox="1"/>
          <p:nvPr/>
        </p:nvSpPr>
        <p:spPr>
          <a:xfrm>
            <a:off x="658368" y="5093208"/>
            <a:ext cx="10874959" cy="365760"/>
          </a:xfrm>
          <a:prstGeom prst="rect">
            <a:avLst/>
          </a:prstGeom>
          <a:noFill/>
        </p:spPr>
        <p:txBody>
          <a:bodyPr wrap="square" lIns="0" rIns="0" tIns="0" bIns="0">
            <a:spAutoFit/>
          </a:bodyPr>
          <a:lstStyle/>
          <a:p>
            <a:pPr algn="l">
              <a:lnSpc>
                <a:spcPct val="135000"/>
              </a:lnSpc>
            </a:pPr>
            <a:r>
              <a:rPr sz="1400" b="0">
                <a:solidFill>
                  <a:srgbClr val="1C1B18"/>
                </a:solidFill>
                <a:latin typeface="Arial Narrow"/>
              </a:rPr>
              <a:t>Durable moat in 12–18 months. Until then we are a very good library holding the only benchmark in the category — which is exactly the right thing to be right 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RISKS, AND WHY EACH ONE SURVIVES CONTACT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Named first, answered second.</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8" cy="2304288"/>
        </p:xfrm>
        <a:graphic>
          <a:graphicData uri="http://schemas.openxmlformats.org/drawingml/2006/table">
            <a:tbl>
              <a:tblPr firstRow="1" bandRow="1">
                <a:tableStyleId>{5C22544A-7EE6-4342-B048-85BDC9FD1C3A}</a:tableStyleId>
              </a:tblPr>
              <a:tblGrid>
                <a:gridCol w="3262487"/>
                <a:gridCol w="7612471"/>
              </a:tblGrid>
              <a:tr h="384048">
                <a:tc>
                  <a:txBody>
                    <a:bodyPr wrap="square"/>
                    <a:lstStyle/>
                    <a:p>
                      <a:pPr algn="l"/>
                      <a:r>
                        <a:rPr sz="1200" b="1">
                          <a:solidFill>
                            <a:srgbClr val="E6E3DA"/>
                          </a:solidFill>
                          <a:latin typeface="Arial Narrow"/>
                        </a:rPr>
                        <a:t>Risk</a:t>
                      </a:r>
                    </a:p>
                  </a:txBody>
                  <a:tcPr marL="109728" marR="109728" marT="45720" marB="45720">
                    <a:solidFill>
                      <a:srgbClr val="1C1B18"/>
                    </a:solidFill>
                  </a:tcPr>
                </a:tc>
                <a:tc>
                  <a:txBody>
                    <a:bodyPr wrap="square"/>
                    <a:lstStyle/>
                    <a:p>
                      <a:pPr algn="l"/>
                      <a:r>
                        <a:rPr sz="1200" b="1">
                          <a:solidFill>
                            <a:srgbClr val="E6E3DA"/>
                          </a:solidFill>
                          <a:latin typeface="Arial Narrow"/>
                        </a:rPr>
                        <a:t>Response</a:t>
                      </a:r>
                    </a:p>
                  </a:txBody>
                  <a:tcPr marL="109728" marR="109728" marT="45720" marB="45720">
                    <a:solidFill>
                      <a:srgbClr val="1C1B18"/>
                    </a:solidFill>
                  </a:tcPr>
                </a:tc>
              </a:tr>
              <a:tr h="384048">
                <a:tc>
                  <a:txBody>
                    <a:bodyPr wrap="square"/>
                    <a:lstStyle/>
                    <a:p>
                      <a:pPr algn="l"/>
                      <a:r>
                        <a:rPr sz="1200" b="0">
                          <a:solidFill>
                            <a:srgbClr val="1C1B18"/>
                          </a:solidFill>
                          <a:latin typeface="Arial Narrow"/>
                        </a:rPr>
                        <a:t>A framework absorbs the feature</a:t>
                      </a:r>
                    </a:p>
                  </a:txBody>
                  <a:tcPr marL="109728" marR="109728" marT="45720" marB="45720">
                    <a:solidFill>
                      <a:srgbClr val="DCD7C9"/>
                    </a:solidFill>
                  </a:tcPr>
                </a:tc>
                <a:tc>
                  <a:txBody>
                    <a:bodyPr wrap="square"/>
                    <a:lstStyle/>
                    <a:p>
                      <a:pPr algn="r"/>
                      <a:r>
                        <a:rPr sz="1200" b="0">
                          <a:solidFill>
                            <a:srgbClr val="1C1B18"/>
                          </a:solidFill>
                          <a:latin typeface="Consolas"/>
                        </a:rPr>
                        <a:t>Upstreaming is the plan. The benchmark and calibration corpus stay ours — this is the acquisition path, not a loss.</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Observability vendors extend into control</a:t>
                      </a:r>
                    </a:p>
                  </a:txBody>
                  <a:tcPr marL="109728" marR="109728" marT="45720" marB="45720">
                    <a:solidFill>
                      <a:srgbClr val="E6E3DA"/>
                    </a:solidFill>
                  </a:tcPr>
                </a:tc>
                <a:tc>
                  <a:txBody>
                    <a:bodyPr wrap="square"/>
                    <a:lstStyle/>
                    <a:p>
                      <a:pPr algn="r"/>
                      <a:r>
                        <a:rPr sz="1200" b="0">
                          <a:solidFill>
                            <a:srgbClr val="1C1B18"/>
                          </a:solidFill>
                          <a:latin typeface="Consolas"/>
                        </a:rPr>
                        <a:t>Structurally post-hoc: different data path, different latency budget. We integrate; they distribute us.</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Stall incidence lower than assumed</a:t>
                      </a:r>
                    </a:p>
                  </a:txBody>
                  <a:tcPr marL="109728" marR="109728" marT="45720" marB="45720">
                    <a:solidFill>
                      <a:srgbClr val="DCD7C9"/>
                    </a:solidFill>
                  </a:tcPr>
                </a:tc>
                <a:tc>
                  <a:txBody>
                    <a:bodyPr wrap="square"/>
                    <a:lstStyle/>
                    <a:p>
                      <a:pPr algn="r"/>
                      <a:r>
                        <a:rPr sz="1200" b="0">
                          <a:solidFill>
                            <a:srgbClr val="1C1B18"/>
                          </a:solidFill>
                          <a:latin typeface="Consolas"/>
                        </a:rPr>
                        <a:t>Pool A shrinks; Pool B is intact and is the larger pool anyway. The pitch becomes engineer-time recovery.</a:t>
                      </a:r>
                    </a:p>
                  </a:txBody>
                  <a:tcPr marL="109728" marR="109728" marT="45720" marB="45720">
                    <a:solidFill>
                      <a:srgbClr val="DCD7C9"/>
                    </a:solidFill>
                  </a:tcPr>
                </a:tc>
              </a:tr>
              <a:tr h="384048">
                <a:tc>
                  <a:txBody>
                    <a:bodyPr wrap="square"/>
                    <a:lstStyle/>
                    <a:p>
                      <a:pPr algn="l"/>
                      <a:r>
                        <a:rPr sz="1200" b="0">
                          <a:solidFill>
                            <a:srgbClr val="1C1B18"/>
                          </a:solidFill>
                          <a:latin typeface="Arial Narrow"/>
                        </a:rPr>
                        <a:t>Encoder commoditisation</a:t>
                      </a:r>
                    </a:p>
                  </a:txBody>
                  <a:tcPr marL="109728" marR="109728" marT="45720" marB="45720">
                    <a:solidFill>
                      <a:srgbClr val="E6E3DA"/>
                    </a:solidFill>
                  </a:tcPr>
                </a:tc>
                <a:tc>
                  <a:txBody>
                    <a:bodyPr wrap="square"/>
                    <a:lstStyle/>
                    <a:p>
                      <a:pPr algn="r"/>
                      <a:r>
                        <a:rPr sz="1200" b="0">
                          <a:solidFill>
                            <a:srgbClr val="1C1B18"/>
                          </a:solidFill>
                          <a:latin typeface="Consolas"/>
                        </a:rPr>
                        <a:t>We never sold the encoder. Cheaper and better encoders make Plateau better. Net positive.</a:t>
                      </a:r>
                    </a:p>
                  </a:txBody>
                  <a:tcPr marL="109728" marR="109728" marT="45720" marB="45720">
                    <a:solidFill>
                      <a:srgbClr val="E6E3DA"/>
                    </a:solidFill>
                  </a:tcPr>
                </a:tc>
              </a:tr>
              <a:tr h="384048">
                <a:tc>
                  <a:txBody>
                    <a:bodyPr wrap="square"/>
                    <a:lstStyle/>
                    <a:p>
                      <a:pPr algn="l"/>
                      <a:r>
                        <a:rPr sz="1200" b="0">
                          <a:solidFill>
                            <a:srgbClr val="1C1B18"/>
                          </a:solidFill>
                          <a:latin typeface="Arial Narrow"/>
                        </a:rPr>
                        <a:t>False positives erode trust</a:t>
                      </a:r>
                    </a:p>
                  </a:txBody>
                  <a:tcPr marL="109728" marR="109728" marT="45720" marB="45720">
                    <a:solidFill>
                      <a:srgbClr val="DCD7C9"/>
                    </a:solidFill>
                  </a:tcPr>
                </a:tc>
                <a:tc>
                  <a:txBody>
                    <a:bodyPr wrap="square"/>
                    <a:lstStyle/>
                    <a:p>
                      <a:pPr algn="r"/>
                      <a:r>
                        <a:rPr sz="1200" b="0">
                          <a:solidFill>
                            <a:srgbClr val="1C1B18"/>
                          </a:solidFill>
                          <a:latin typeface="Consolas"/>
                        </a:rPr>
                        <a:t>One probe turn is the structural answer, and we publish the rate every release. No competitor does.</a:t>
                      </a:r>
                    </a:p>
                  </a:txBody>
                  <a:tcPr marL="109728" marR="109728" marT="45720" marB="45720">
                    <a:solidFill>
                      <a:srgbClr val="DCD7C9"/>
                    </a:solidFill>
                  </a:tcPr>
                </a:tc>
              </a:tr>
            </a:tbl>
          </a:graphicData>
        </a:graphic>
      </p:graphicFrame>
      <p:sp>
        <p:nvSpPr>
          <p:cNvPr id="6" name="TextBox 5"/>
          <p:cNvSpPr txBox="1"/>
          <p:nvPr/>
        </p:nvSpPr>
        <p:spPr>
          <a:xfrm>
            <a:off x="658368" y="4105656"/>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One assumption decides the size of Pool A: how often unattended agents actually stall. At 5% the business is marginal; at 25% it is urgent. We are the only people who will have measured it — the eval is simultaneously the proof the detector works and the instrument that sizes the market.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ADOPTION COST</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Two hooks around a tool call.</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5852160" cy="26974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883664"/>
            <a:ext cx="5486400" cy="2286000"/>
          </a:xfrm>
          <a:prstGeom prst="rect">
            <a:avLst/>
          </a:prstGeom>
          <a:noFill/>
        </p:spPr>
        <p:txBody>
          <a:bodyPr wrap="square" lIns="0" rIns="0" tIns="0" bIns="0">
            <a:spAutoFit/>
          </a:bodyPr>
          <a:lstStyle/>
          <a:p>
            <a:pPr algn="l">
              <a:lnSpc>
                <a:spcPct val="155000"/>
              </a:lnSpc>
            </a:pPr>
            <a:r>
              <a:rPr sz="1400" b="0">
                <a:solidFill>
                  <a:srgbClr val="1C1B18"/>
                </a:solidFill>
                <a:latin typeface="Consolas"/>
              </a:rPr>
              <a:t>before_tool(action)</a:t>
            </a:r>
          </a:p>
          <a:p>
            <a:pPr algn="l">
              <a:lnSpc>
                <a:spcPct val="155000"/>
              </a:lnSpc>
            </a:pPr>
            <a:r>
              <a:rPr sz="1400" b="0">
                <a:solidFill>
                  <a:srgbClr val="1C1B18"/>
                </a:solidFill>
                <a:latin typeface="Consolas"/>
              </a:rPr>
              <a:t>    veto, once the breaker is open</a:t>
            </a:r>
          </a:p>
          <a:p>
            <a:pPr algn="l">
              <a:lnSpc>
                <a:spcPct val="155000"/>
              </a:lnSpc>
            </a:pPr>
            <a:r>
              <a:rPr sz="1400" b="0">
                <a:solidFill>
                  <a:srgbClr val="1C1B18"/>
                </a:solidFill>
                <a:latin typeface="Consolas"/>
              </a:rPr>
              <a:t>    costs nothing while closed</a:t>
            </a:r>
          </a:p>
          <a:p>
            <a:pPr algn="l">
              <a:lnSpc>
                <a:spcPct val="155000"/>
              </a:lnSpc>
            </a:pPr>
            <a:r>
              <a:rPr sz="1400" b="0">
                <a:solidFill>
                  <a:srgbClr val="1C1B18"/>
                </a:solidFill>
                <a:latin typeface="Consolas"/>
              </a:rPr>
              <a:t/>
            </a:r>
          </a:p>
          <a:p>
            <a:pPr algn="l">
              <a:lnSpc>
                <a:spcPct val="155000"/>
              </a:lnSpc>
            </a:pPr>
            <a:r>
              <a:rPr sz="1400" b="0">
                <a:solidFill>
                  <a:srgbClr val="1C1B18"/>
                </a:solidFill>
                <a:latin typeface="Consolas"/>
              </a:rPr>
              <a:t>after_tool(action, observation)</a:t>
            </a:r>
          </a:p>
          <a:p>
            <a:pPr algn="l">
              <a:lnSpc>
                <a:spcPct val="155000"/>
              </a:lnSpc>
            </a:pPr>
            <a:r>
              <a:rPr sz="1400" b="0">
                <a:solidFill>
                  <a:srgbClr val="1C1B18"/>
                </a:solidFill>
                <a:latin typeface="Consolas"/>
              </a:rPr>
              <a:t>    score the completed turn</a:t>
            </a:r>
          </a:p>
          <a:p>
            <a:pPr algn="l">
              <a:lnSpc>
                <a:spcPct val="155000"/>
              </a:lnSpc>
            </a:pPr>
            <a:r>
              <a:rPr sz="1400" b="0">
                <a:solidFill>
                  <a:srgbClr val="1C1B18"/>
                </a:solidFill>
                <a:latin typeface="Consolas"/>
              </a:rPr>
              <a:t>    this is the call that embeds</a:t>
            </a:r>
          </a:p>
        </p:txBody>
      </p:sp>
      <p:sp>
        <p:nvSpPr>
          <p:cNvPr id="7" name="TextBox 6"/>
          <p:cNvSpPr txBox="1"/>
          <p:nvPr/>
        </p:nvSpPr>
        <p:spPr>
          <a:xfrm>
            <a:off x="7059168" y="1682496"/>
            <a:ext cx="4480560" cy="2651760"/>
          </a:xfrm>
          <a:prstGeom prst="rect">
            <a:avLst/>
          </a:prstGeom>
          <a:noFill/>
        </p:spPr>
        <p:txBody>
          <a:bodyPr wrap="square" lIns="0" rIns="0" tIns="0" bIns="0">
            <a:spAutoFit/>
          </a:bodyPr>
          <a:lstStyle/>
          <a:p>
            <a:pPr algn="l">
              <a:lnSpc>
                <a:spcPct val="145000"/>
              </a:lnSpc>
            </a:pPr>
            <a:r>
              <a:rPr sz="1500" b="0">
                <a:solidFill>
                  <a:srgbClr val="1C1B18"/>
                </a:solidFill>
                <a:latin typeface="Arial Narrow"/>
              </a:rPr>
              <a:t>That is the whole surface — the same shape as a LangChain callback pair or a Strands BeforeToolCall / AfterToolCall adapter.</a:t>
            </a:r>
          </a:p>
          <a:p>
            <a:pPr algn="l">
              <a:lnSpc>
                <a:spcPct val="145000"/>
              </a:lnSpc>
            </a:pPr>
            <a:r>
              <a:rPr sz="1500" b="0">
                <a:solidFill>
                  <a:srgbClr val="1C1B18"/>
                </a:solidFill>
                <a:latin typeface="Arial Narrow"/>
              </a:rPr>
              <a:t/>
            </a:r>
          </a:p>
          <a:p>
            <a:pPr algn="l">
              <a:lnSpc>
                <a:spcPct val="145000"/>
              </a:lnSpc>
            </a:pPr>
            <a:r>
              <a:rPr sz="1500" b="0">
                <a:solidFill>
                  <a:srgbClr val="1C1B18"/>
                </a:solidFill>
                <a:latin typeface="Arial Narrow"/>
              </a:rPr>
              <a:t>A working LangGraph example ships in the repo: the agent logic does not know it is being watched.</a:t>
            </a:r>
          </a:p>
          <a:p>
            <a:pPr algn="l">
              <a:lnSpc>
                <a:spcPct val="145000"/>
              </a:lnSpc>
            </a:pPr>
            <a:r>
              <a:rPr sz="1500" b="0">
                <a:solidFill>
                  <a:srgbClr val="1C1B18"/>
                </a:solidFill>
                <a:latin typeface="Arial Narrow"/>
              </a:rPr>
              <a:t/>
            </a:r>
          </a:p>
          <a:p>
            <a:pPr algn="l">
              <a:lnSpc>
                <a:spcPct val="145000"/>
              </a:lnSpc>
            </a:pPr>
            <a:r>
              <a:rPr sz="1500" b="0">
                <a:solidFill>
                  <a:srgbClr val="1C1B18"/>
                </a:solidFill>
                <a:latin typeface="Arial Narrow"/>
              </a:rPr>
              <a:t>Distribution comes from the frameworks. We never have to build an audience.</a:t>
            </a:r>
          </a:p>
        </p:txBody>
      </p:sp>
      <p:sp>
        <p:nvSpPr>
          <p:cNvPr id="8" name="Rectangle 7"/>
          <p:cNvSpPr/>
          <p:nvPr/>
        </p:nvSpPr>
        <p:spPr>
          <a:xfrm>
            <a:off x="658368" y="45628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745736"/>
            <a:ext cx="10874959" cy="548640"/>
          </a:xfrm>
          <a:prstGeom prst="rect">
            <a:avLst/>
          </a:prstGeom>
          <a:noFill/>
        </p:spPr>
        <p:txBody>
          <a:bodyPr wrap="square" lIns="0" rIns="0" tIns="0" bIns="0">
            <a:spAutoFit/>
          </a:bodyPr>
          <a:lstStyle/>
          <a:p>
            <a:pPr algn="l">
              <a:lnSpc>
                <a:spcPct val="125000"/>
              </a:lnSpc>
            </a:pPr>
            <a:r>
              <a:rPr sz="2100" b="1">
                <a:solidFill>
                  <a:srgbClr val="1C1B18"/>
                </a:solidFill>
                <a:latin typeface="Arial Narrow"/>
              </a:rPr>
              <a:t>No retraining. No proxy. No vendor lock. Runs entirely offline.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WHERE IT FAILS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148 real agent traces. We got worse.</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636776"/>
          <a:ext cx="10874957" cy="2304288"/>
        </p:xfrm>
        <a:graphic>
          <a:graphicData uri="http://schemas.openxmlformats.org/drawingml/2006/table">
            <a:tbl>
              <a:tblPr firstRow="1" bandRow="1">
                <a:tableStyleId>{5C22544A-7EE6-4342-B048-85BDC9FD1C3A}</a:tableStyleId>
              </a:tblPr>
              <a:tblGrid>
                <a:gridCol w="5437479"/>
                <a:gridCol w="2718739"/>
                <a:gridCol w="2718739"/>
              </a:tblGrid>
              <a:tr h="384048">
                <a:tc>
                  <a:txBody>
                    <a:bodyPr wrap="square"/>
                    <a:lstStyle/>
                    <a:p>
                      <a:pPr algn="l"/>
                      <a:r>
                        <a:rPr sz="1250" b="1">
                          <a:solidFill>
                            <a:srgbClr val="E6E3DA"/>
                          </a:solidFill>
                          <a:latin typeface="Arial Narrow"/>
                        </a:rPr>
                        <a:t>Detector</a:t>
                      </a:r>
                    </a:p>
                  </a:txBody>
                  <a:tcPr marL="109728" marR="109728" marT="45720" marB="45720">
                    <a:solidFill>
                      <a:srgbClr val="1C1B18"/>
                    </a:solidFill>
                  </a:tcPr>
                </a:tc>
                <a:tc>
                  <a:txBody>
                    <a:bodyPr wrap="square"/>
                    <a:lstStyle/>
                    <a:p>
                      <a:pPr algn="l"/>
                      <a:r>
                        <a:rPr sz="1250" b="1">
                          <a:solidFill>
                            <a:srgbClr val="E6E3DA"/>
                          </a:solidFill>
                          <a:latin typeface="Arial Narrow"/>
                        </a:rPr>
                        <a:t>Recall</a:t>
                      </a:r>
                    </a:p>
                  </a:txBody>
                  <a:tcPr marL="109728" marR="109728" marT="45720" marB="45720">
                    <a:solidFill>
                      <a:srgbClr val="1C1B18"/>
                    </a:solidFill>
                  </a:tcPr>
                </a:tc>
                <a:tc>
                  <a:txBody>
                    <a:bodyPr wrap="square"/>
                    <a:lstStyle/>
                    <a:p>
                      <a:pPr algn="l"/>
                      <a:r>
                        <a:rPr sz="1250" b="1">
                          <a:solidFill>
                            <a:srgbClr val="E6E3DA"/>
                          </a:solidFill>
                          <a:latin typeface="Arial Narrow"/>
                        </a:rPr>
                        <a:t>False-trip</a:t>
                      </a:r>
                    </a:p>
                  </a:txBody>
                  <a:tcPr marL="109728" marR="109728" marT="45720" marB="45720">
                    <a:solidFill>
                      <a:srgbClr val="1C1B18"/>
                    </a:solidFill>
                  </a:tcPr>
                </a:tc>
              </a:tr>
              <a:tr h="384048">
                <a:tc>
                  <a:txBody>
                    <a:bodyPr wrap="square"/>
                    <a:lstStyle/>
                    <a:p>
                      <a:pPr algn="l"/>
                      <a:r>
                        <a:rPr sz="1250" b="1">
                          <a:solidFill>
                            <a:srgbClr val="1C1B18"/>
                          </a:solidFill>
                          <a:latin typeface="Arial Narrow"/>
                        </a:rPr>
                        <a:t>Plateau</a:t>
                      </a:r>
                    </a:p>
                  </a:txBody>
                  <a:tcPr marL="109728" marR="109728" marT="45720" marB="45720">
                    <a:solidFill>
                      <a:srgbClr val="DCD7C9"/>
                    </a:solidFill>
                  </a:tcPr>
                </a:tc>
                <a:tc>
                  <a:txBody>
                    <a:bodyPr wrap="square"/>
                    <a:lstStyle/>
                    <a:p>
                      <a:pPr algn="r"/>
                      <a:r>
                        <a:rPr sz="1250" b="1">
                          <a:solidFill>
                            <a:srgbClr val="1C1B18"/>
                          </a:solidFill>
                          <a:latin typeface="Consolas"/>
                        </a:rPr>
                        <a:t>0.63</a:t>
                      </a:r>
                    </a:p>
                  </a:txBody>
                  <a:tcPr marL="109728" marR="109728" marT="45720" marB="45720">
                    <a:solidFill>
                      <a:srgbClr val="DCD7C9"/>
                    </a:solidFill>
                  </a:tcPr>
                </a:tc>
                <a:tc>
                  <a:txBody>
                    <a:bodyPr wrap="square"/>
                    <a:lstStyle/>
                    <a:p>
                      <a:pPr algn="r"/>
                      <a:r>
                        <a:rPr sz="1250" b="1">
                          <a:solidFill>
                            <a:srgbClr val="B3221B"/>
                          </a:solidFill>
                          <a:latin typeface="Consolas"/>
                        </a:rPr>
                        <a:t>0.54</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exact-args debounce</a:t>
                      </a:r>
                    </a:p>
                  </a:txBody>
                  <a:tcPr marL="109728" marR="109728" marT="45720" marB="45720">
                    <a:solidFill>
                      <a:srgbClr val="E6E3DA"/>
                    </a:solidFill>
                  </a:tcPr>
                </a:tc>
                <a:tc>
                  <a:txBody>
                    <a:bodyPr wrap="square"/>
                    <a:lstStyle/>
                    <a:p>
                      <a:pPr algn="r"/>
                      <a:r>
                        <a:rPr sz="1250" b="0">
                          <a:solidFill>
                            <a:srgbClr val="1C1B18"/>
                          </a:solidFill>
                          <a:latin typeface="Consolas"/>
                        </a:rPr>
                        <a:t>0.58</a:t>
                      </a:r>
                    </a:p>
                  </a:txBody>
                  <a:tcPr marL="109728" marR="109728" marT="45720" marB="45720">
                    <a:solidFill>
                      <a:srgbClr val="E6E3DA"/>
                    </a:solidFill>
                  </a:tcPr>
                </a:tc>
                <a:tc>
                  <a:txBody>
                    <a:bodyPr wrap="square"/>
                    <a:lstStyle/>
                    <a:p>
                      <a:pPr algn="r"/>
                      <a:r>
                        <a:rPr sz="1250" b="0">
                          <a:solidFill>
                            <a:srgbClr val="1C1B18"/>
                          </a:solidFill>
                          <a:latin typeface="Consolas"/>
                        </a:rPr>
                        <a:t>0.23</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lexical (agent-loop-detector)</a:t>
                      </a:r>
                    </a:p>
                  </a:txBody>
                  <a:tcPr marL="109728" marR="109728" marT="45720" marB="45720">
                    <a:solidFill>
                      <a:srgbClr val="DCD7C9"/>
                    </a:solidFill>
                  </a:tcPr>
                </a:tc>
                <a:tc>
                  <a:txBody>
                    <a:bodyPr wrap="square"/>
                    <a:lstStyle/>
                    <a:p>
                      <a:pPr algn="r"/>
                      <a:r>
                        <a:rPr sz="1250" b="0">
                          <a:solidFill>
                            <a:srgbClr val="1C1B18"/>
                          </a:solidFill>
                          <a:latin typeface="Consolas"/>
                        </a:rPr>
                        <a:t>0.07</a:t>
                      </a:r>
                    </a:p>
                  </a:txBody>
                  <a:tcPr marL="109728" marR="109728" marT="45720" marB="45720">
                    <a:solidFill>
                      <a:srgbClr val="DCD7C9"/>
                    </a:solidFill>
                  </a:tcPr>
                </a:tc>
                <a:tc>
                  <a:txBody>
                    <a:bodyPr wrap="square"/>
                    <a:lstStyle/>
                    <a:p>
                      <a:pPr algn="r"/>
                      <a:r>
                        <a:rPr sz="1250" b="0">
                          <a:solidFill>
                            <a:srgbClr val="1C1B18"/>
                          </a:solidFill>
                          <a:latin typeface="Consolas"/>
                        </a:rPr>
                        <a:t>0.00</a:t>
                      </a:r>
                    </a:p>
                  </a:txBody>
                  <a:tcPr marL="109728" marR="109728" marT="45720" marB="45720">
                    <a:solidFill>
                      <a:srgbClr val="DCD7C9"/>
                    </a:solidFill>
                  </a:tcPr>
                </a:tc>
              </a:tr>
              <a:tr h="384048">
                <a:tc>
                  <a:txBody>
                    <a:bodyPr wrap="square"/>
                    <a:lstStyle/>
                    <a:p>
                      <a:pPr algn="l"/>
                      <a:r>
                        <a:rPr sz="1250" b="0">
                          <a:solidFill>
                            <a:srgbClr val="1C1B18"/>
                          </a:solidFill>
                          <a:latin typeface="Arial Narrow"/>
                        </a:rPr>
                        <a:t>step-cap (LangGraph 25)</a:t>
                      </a:r>
                    </a:p>
                  </a:txBody>
                  <a:tcPr marL="109728" marR="109728" marT="45720" marB="45720">
                    <a:solidFill>
                      <a:srgbClr val="E6E3DA"/>
                    </a:solidFill>
                  </a:tcPr>
                </a:tc>
                <a:tc>
                  <a:txBody>
                    <a:bodyPr wrap="square"/>
                    <a:lstStyle/>
                    <a:p>
                      <a:pPr algn="r"/>
                      <a:r>
                        <a:rPr sz="1250" b="0">
                          <a:solidFill>
                            <a:srgbClr val="1C1B18"/>
                          </a:solidFill>
                          <a:latin typeface="Consolas"/>
                        </a:rPr>
                        <a:t>0.12</a:t>
                      </a:r>
                    </a:p>
                  </a:txBody>
                  <a:tcPr marL="109728" marR="109728" marT="45720" marB="45720">
                    <a:solidFill>
                      <a:srgbClr val="E6E3DA"/>
                    </a:solidFill>
                  </a:tcPr>
                </a:tc>
                <a:tc>
                  <a:txBody>
                    <a:bodyPr wrap="square"/>
                    <a:lstStyle/>
                    <a:p>
                      <a:pPr algn="r"/>
                      <a:r>
                        <a:rPr sz="1250" b="0">
                          <a:solidFill>
                            <a:srgbClr val="1C1B18"/>
                          </a:solidFill>
                          <a:latin typeface="Consolas"/>
                        </a:rPr>
                        <a:t>0.00</a:t>
                      </a:r>
                    </a:p>
                  </a:txBody>
                  <a:tcPr marL="109728" marR="109728" marT="45720" marB="45720">
                    <a:solidFill>
                      <a:srgbClr val="E6E3DA"/>
                    </a:solidFill>
                  </a:tcPr>
                </a:tc>
              </a:tr>
              <a:tr h="384048">
                <a:tc>
                  <a:txBody>
                    <a:bodyPr wrap="square"/>
                    <a:lstStyle/>
                    <a:p>
                      <a:pPr algn="l"/>
                      <a:r>
                        <a:rPr sz="1250" b="0">
                          <a:solidFill>
                            <a:srgbClr val="1C1B18"/>
                          </a:solidFill>
                          <a:latin typeface="Arial Narrow"/>
                        </a:rPr>
                        <a:t>exact-match (OpenHands)</a:t>
                      </a:r>
                    </a:p>
                  </a:txBody>
                  <a:tcPr marL="109728" marR="109728" marT="45720" marB="45720">
                    <a:solidFill>
                      <a:srgbClr val="DCD7C9"/>
                    </a:solidFill>
                  </a:tcPr>
                </a:tc>
                <a:tc>
                  <a:txBody>
                    <a:bodyPr wrap="square"/>
                    <a:lstStyle/>
                    <a:p>
                      <a:pPr algn="r"/>
                      <a:r>
                        <a:rPr sz="1250" b="0">
                          <a:solidFill>
                            <a:srgbClr val="1C1B18"/>
                          </a:solidFill>
                          <a:latin typeface="Consolas"/>
                        </a:rPr>
                        <a:t>0.00</a:t>
                      </a:r>
                    </a:p>
                  </a:txBody>
                  <a:tcPr marL="109728" marR="109728" marT="45720" marB="45720">
                    <a:solidFill>
                      <a:srgbClr val="DCD7C9"/>
                    </a:solidFill>
                  </a:tcPr>
                </a:tc>
                <a:tc>
                  <a:txBody>
                    <a:bodyPr wrap="square"/>
                    <a:lstStyle/>
                    <a:p>
                      <a:pPr algn="r"/>
                      <a:r>
                        <a:rPr sz="1250" b="0">
                          <a:solidFill>
                            <a:srgbClr val="1C1B18"/>
                          </a:solidFill>
                          <a:latin typeface="Consolas"/>
                        </a:rPr>
                        <a:t>0.00</a:t>
                      </a:r>
                    </a:p>
                  </a:txBody>
                  <a:tcPr marL="109728" marR="109728" marT="45720" marB="45720">
                    <a:solidFill>
                      <a:srgbClr val="DCD7C9"/>
                    </a:solidFill>
                  </a:tcPr>
                </a:tc>
              </a:tr>
            </a:tbl>
          </a:graphicData>
        </a:graphic>
      </p:graphicFrame>
      <p:sp>
        <p:nvSpPr>
          <p:cNvPr id="6" name="TextBox 5"/>
          <p:cNvSpPr txBox="1"/>
          <p:nvPr/>
        </p:nvSpPr>
        <p:spPr>
          <a:xfrm>
            <a:off x="658368" y="4133088"/>
            <a:ext cx="1737360" cy="182880"/>
          </a:xfrm>
          <a:prstGeom prst="rect">
            <a:avLst/>
          </a:prstGeom>
          <a:noFill/>
        </p:spPr>
        <p:txBody>
          <a:bodyPr wrap="square" lIns="0" rIns="0" tIns="0" bIns="0">
            <a:spAutoFit/>
          </a:bodyPr>
          <a:lstStyle/>
          <a:p>
            <a:pPr algn="l">
              <a:lnSpc>
                <a:spcPct val="125000"/>
              </a:lnSpc>
            </a:pPr>
            <a:r>
              <a:rPr sz="900" b="1" spc="126">
                <a:solidFill>
                  <a:srgbClr val="1C1B18"/>
                </a:solidFill>
                <a:latin typeface="Arial Narrow"/>
              </a:rPr>
              <a:t>MEASURED</a:t>
            </a:r>
          </a:p>
        </p:txBody>
      </p:sp>
      <p:sp>
        <p:nvSpPr>
          <p:cNvPr id="7" name="TextBox 6"/>
          <p:cNvSpPr txBox="1"/>
          <p:nvPr/>
        </p:nvSpPr>
        <p:spPr>
          <a:xfrm>
            <a:off x="658368" y="4352544"/>
            <a:ext cx="10874959" cy="548640"/>
          </a:xfrm>
          <a:prstGeom prst="rect">
            <a:avLst/>
          </a:prstGeom>
          <a:noFill/>
        </p:spPr>
        <p:txBody>
          <a:bodyPr wrap="square" lIns="0" rIns="0" tIns="0" bIns="0">
            <a:spAutoFit/>
          </a:bodyPr>
          <a:lstStyle/>
          <a:p>
            <a:pPr algn="l">
              <a:lnSpc>
                <a:spcPct val="135000"/>
              </a:lnSpc>
            </a:pPr>
            <a:r>
              <a:rPr sz="1200" b="0">
                <a:solidFill>
                  <a:srgbClr val="6E695C"/>
                </a:solidFill>
                <a:latin typeface="Arial Narrow"/>
              </a:rPr>
              <a:t>TRAIL (PatronusAI, arXiv:2505.08638) — 148 expert-annotated traces from GAIA and SWE-Bench. On traces we wrote ourselves we hit recall 1.00 with zero false trips. On real ones we false-trip more than half the healthy runs, and NOTHING tested reaches 1.00/0.00. Our own evaluation was optimistic about us. We only know that because we went and got real traces.</a:t>
            </a:r>
          </a:p>
        </p:txBody>
      </p:sp>
      <p:sp>
        <p:nvSpPr>
          <p:cNvPr id="8" name="Rectangle 7"/>
          <p:cNvSpPr/>
          <p:nvPr/>
        </p:nvSpPr>
        <p:spPr>
          <a:xfrm>
            <a:off x="658368" y="511149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294376"/>
            <a:ext cx="10874959" cy="548640"/>
          </a:xfrm>
          <a:prstGeom prst="rect">
            <a:avLst/>
          </a:prstGeom>
          <a:noFill/>
        </p:spPr>
        <p:txBody>
          <a:bodyPr wrap="square" lIns="0" rIns="0" tIns="0" bIns="0">
            <a:spAutoFit/>
          </a:bodyPr>
          <a:lstStyle/>
          <a:p>
            <a:pPr algn="l">
              <a:lnSpc>
                <a:spcPct val="125000"/>
              </a:lnSpc>
            </a:pPr>
            <a:r>
              <a:rPr sz="1900" b="1">
                <a:solidFill>
                  <a:srgbClr val="1C1B18"/>
                </a:solidFill>
                <a:latin typeface="Arial Narrow"/>
              </a:rPr>
              <a:t>Highest recall of anything that fires. A 0.00 false-trip rate is easy when you never trip.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6E3DA"/>
        </a:solidFill>
        <a:effectLst/>
      </p:bgPr>
    </p:bg>
    <p:spTree>
      <p:nvGrpSpPr>
        <p:cNvPr id="1" name=""/>
        <p:cNvGrpSpPr/>
        <p:nvPr/>
      </p:nvGrpSpPr>
      <p:grpSpPr/>
      <p:sp>
        <p:nvSpPr>
          <p:cNvPr id="2" name="TextBox 1"/>
          <p:cNvSpPr txBox="1"/>
          <p:nvPr/>
        </p:nvSpPr>
        <p:spPr>
          <a:xfrm>
            <a:off x="658368" y="475488"/>
            <a:ext cx="10874959" cy="237744"/>
          </a:xfrm>
          <a:prstGeom prst="rect">
            <a:avLst/>
          </a:prstGeom>
          <a:noFill/>
        </p:spPr>
        <p:txBody>
          <a:bodyPr wrap="square" lIns="0" rIns="0" tIns="0" bIns="0">
            <a:spAutoFit/>
          </a:bodyPr>
          <a:lstStyle/>
          <a:p>
            <a:pPr algn="l">
              <a:lnSpc>
                <a:spcPct val="125000"/>
              </a:lnSpc>
            </a:pPr>
            <a:r>
              <a:rPr sz="1200" b="0" spc="216">
                <a:solidFill>
                  <a:srgbClr val="6E695C"/>
                </a:solidFill>
                <a:latin typeface="Arial Narrow"/>
              </a:rPr>
              <a:t>WHERE IT STANDS</a:t>
            </a:r>
          </a:p>
        </p:txBody>
      </p:sp>
      <p:sp>
        <p:nvSpPr>
          <p:cNvPr id="3" name="TextBox 2"/>
          <p:cNvSpPr txBox="1"/>
          <p:nvPr/>
        </p:nvSpPr>
        <p:spPr>
          <a:xfrm>
            <a:off x="658368" y="749808"/>
            <a:ext cx="10874959" cy="640080"/>
          </a:xfrm>
          <a:prstGeom prst="rect">
            <a:avLst/>
          </a:prstGeom>
          <a:noFill/>
        </p:spPr>
        <p:txBody>
          <a:bodyPr wrap="square" lIns="0" rIns="0" tIns="0" bIns="0">
            <a:spAutoFit/>
          </a:bodyPr>
          <a:lstStyle/>
          <a:p>
            <a:pPr algn="l">
              <a:lnSpc>
                <a:spcPct val="125000"/>
              </a:lnSpc>
            </a:pPr>
            <a:r>
              <a:rPr sz="3400" b="1" spc="68">
                <a:solidFill>
                  <a:srgbClr val="1C1B18"/>
                </a:solidFill>
                <a:latin typeface="Arial Narrow"/>
              </a:rPr>
              <a:t>Built, measured, and running today.</a:t>
            </a:r>
          </a:p>
        </p:txBody>
      </p:sp>
      <p:sp>
        <p:nvSpPr>
          <p:cNvPr id="4" name="Rectangle 3"/>
          <p:cNvSpPr/>
          <p:nvPr/>
        </p:nvSpPr>
        <p:spPr>
          <a:xfrm>
            <a:off x="658368" y="1426464"/>
            <a:ext cx="10874959" cy="1905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TESTS PASSING</a:t>
            </a:r>
          </a:p>
        </p:txBody>
      </p:sp>
      <p:sp>
        <p:nvSpPr>
          <p:cNvPr id="7" name="TextBox 6"/>
          <p:cNvSpPr txBox="1"/>
          <p:nvPr/>
        </p:nvSpPr>
        <p:spPr>
          <a:xfrm>
            <a:off x="804672" y="2048256"/>
            <a:ext cx="2340864" cy="457200"/>
          </a:xfrm>
          <a:prstGeom prst="rect">
            <a:avLst/>
          </a:prstGeom>
          <a:noFill/>
        </p:spPr>
        <p:txBody>
          <a:bodyPr wrap="square" lIns="0" rIns="0" tIns="0" bIns="0">
            <a:spAutoFit/>
          </a:bodyPr>
          <a:lstStyle/>
          <a:p>
            <a:pPr algn="l">
              <a:lnSpc>
                <a:spcPct val="125000"/>
              </a:lnSpc>
            </a:pPr>
            <a:r>
              <a:rPr sz="3000" b="1">
                <a:solidFill>
                  <a:srgbClr val="1C1B18"/>
                </a:solidFill>
                <a:latin typeface="Consolas"/>
              </a:rPr>
              <a:t>165</a:t>
            </a:r>
          </a:p>
        </p:txBody>
      </p:sp>
      <p:sp>
        <p:nvSpPr>
          <p:cNvPr id="8" name="TextBox 7"/>
          <p:cNvSpPr txBox="1"/>
          <p:nvPr/>
        </p:nvSpPr>
        <p:spPr>
          <a:xfrm>
            <a:off x="804672"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including the live demo stack</a:t>
            </a:r>
          </a:p>
        </p:txBody>
      </p:sp>
      <p:sp>
        <p:nvSpPr>
          <p:cNvPr id="9" name="Rectangle 8"/>
          <p:cNvSpPr/>
          <p:nvPr/>
        </p:nvSpPr>
        <p:spPr>
          <a:xfrm>
            <a:off x="3456432"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REAL TRACES EVALUATED</a:t>
            </a:r>
          </a:p>
        </p:txBody>
      </p:sp>
      <p:sp>
        <p:nvSpPr>
          <p:cNvPr id="11" name="TextBox 10"/>
          <p:cNvSpPr txBox="1"/>
          <p:nvPr/>
        </p:nvSpPr>
        <p:spPr>
          <a:xfrm>
            <a:off x="3602736"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148</a:t>
            </a:r>
          </a:p>
        </p:txBody>
      </p:sp>
      <p:sp>
        <p:nvSpPr>
          <p:cNvPr id="12" name="TextBox 11"/>
          <p:cNvSpPr txBox="1"/>
          <p:nvPr/>
        </p:nvSpPr>
        <p:spPr>
          <a:xfrm>
            <a:off x="3602736"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TRAIL, expert-annotated</a:t>
            </a:r>
          </a:p>
        </p:txBody>
      </p:sp>
      <p:sp>
        <p:nvSpPr>
          <p:cNvPr id="13" name="Rectangle 12"/>
          <p:cNvSpPr/>
          <p:nvPr/>
        </p:nvSpPr>
        <p:spPr>
          <a:xfrm>
            <a:off x="6254496"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EXTERNAL SERVICES</a:t>
            </a:r>
          </a:p>
        </p:txBody>
      </p:sp>
      <p:sp>
        <p:nvSpPr>
          <p:cNvPr id="15" name="TextBox 14"/>
          <p:cNvSpPr txBox="1"/>
          <p:nvPr/>
        </p:nvSpPr>
        <p:spPr>
          <a:xfrm>
            <a:off x="6400800"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0</a:t>
            </a:r>
          </a:p>
        </p:txBody>
      </p:sp>
      <p:sp>
        <p:nvSpPr>
          <p:cNvPr id="16" name="TextBox 15"/>
          <p:cNvSpPr txBox="1"/>
          <p:nvPr/>
        </p:nvSpPr>
        <p:spPr>
          <a:xfrm>
            <a:off x="6400800"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no cloud, no API key</a:t>
            </a:r>
          </a:p>
        </p:txBody>
      </p:sp>
      <p:sp>
        <p:nvSpPr>
          <p:cNvPr id="17" name="Rectangle 16"/>
          <p:cNvSpPr/>
          <p:nvPr/>
        </p:nvSpPr>
        <p:spPr>
          <a:xfrm>
            <a:off x="9052560" y="1682496"/>
            <a:ext cx="2615184" cy="1170432"/>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1810512"/>
            <a:ext cx="2340864" cy="182880"/>
          </a:xfrm>
          <a:prstGeom prst="rect">
            <a:avLst/>
          </a:prstGeom>
          <a:noFill/>
        </p:spPr>
        <p:txBody>
          <a:bodyPr wrap="square" lIns="0" rIns="0" tIns="0" bIns="0">
            <a:spAutoFit/>
          </a:bodyPr>
          <a:lstStyle/>
          <a:p>
            <a:pPr algn="l">
              <a:lnSpc>
                <a:spcPct val="125000"/>
              </a:lnSpc>
            </a:pPr>
            <a:r>
              <a:rPr sz="1050" b="0" spc="147">
                <a:solidFill>
                  <a:srgbClr val="6E695C"/>
                </a:solidFill>
                <a:latin typeface="Arial Narrow"/>
              </a:rPr>
              <a:t>INTEGRATION SURFACE</a:t>
            </a:r>
          </a:p>
        </p:txBody>
      </p:sp>
      <p:sp>
        <p:nvSpPr>
          <p:cNvPr id="19" name="TextBox 18"/>
          <p:cNvSpPr txBox="1"/>
          <p:nvPr/>
        </p:nvSpPr>
        <p:spPr>
          <a:xfrm>
            <a:off x="9198864" y="2048256"/>
            <a:ext cx="2340864" cy="457200"/>
          </a:xfrm>
          <a:prstGeom prst="rect">
            <a:avLst/>
          </a:prstGeom>
          <a:noFill/>
        </p:spPr>
        <p:txBody>
          <a:bodyPr wrap="square" lIns="0" rIns="0" tIns="0" bIns="0">
            <a:spAutoFit/>
          </a:bodyPr>
          <a:lstStyle/>
          <a:p>
            <a:pPr algn="l">
              <a:lnSpc>
                <a:spcPct val="125000"/>
              </a:lnSpc>
            </a:pPr>
            <a:r>
              <a:rPr sz="3000" b="1">
                <a:solidFill>
                  <a:srgbClr val="0E6F52"/>
                </a:solidFill>
                <a:latin typeface="Consolas"/>
              </a:rPr>
              <a:t>2 hooks</a:t>
            </a:r>
          </a:p>
        </p:txBody>
      </p:sp>
      <p:sp>
        <p:nvSpPr>
          <p:cNvPr id="20" name="TextBox 19"/>
          <p:cNvSpPr txBox="1"/>
          <p:nvPr/>
        </p:nvSpPr>
        <p:spPr>
          <a:xfrm>
            <a:off x="9198864" y="2551176"/>
            <a:ext cx="2340864" cy="256032"/>
          </a:xfrm>
          <a:prstGeom prst="rect">
            <a:avLst/>
          </a:prstGeom>
          <a:noFill/>
        </p:spPr>
        <p:txBody>
          <a:bodyPr wrap="square" lIns="0" rIns="0" tIns="0" bIns="0">
            <a:spAutoFit/>
          </a:bodyPr>
          <a:lstStyle/>
          <a:p>
            <a:pPr algn="l">
              <a:lnSpc>
                <a:spcPct val="125000"/>
              </a:lnSpc>
            </a:pPr>
            <a:r>
              <a:rPr sz="1100" b="0">
                <a:solidFill>
                  <a:srgbClr val="4F4B42"/>
                </a:solidFill>
                <a:latin typeface="Arial Narrow"/>
              </a:rPr>
              <a:t>around any tool call</a:t>
            </a:r>
          </a:p>
        </p:txBody>
      </p:sp>
      <p:sp>
        <p:nvSpPr>
          <p:cNvPr id="21" name="Rectangle 20"/>
          <p:cNvSpPr/>
          <p:nvPr/>
        </p:nvSpPr>
        <p:spPr>
          <a:xfrm>
            <a:off x="658368" y="3191256"/>
            <a:ext cx="10874959" cy="12700"/>
          </a:xfrm>
          <a:prstGeom prst="rect">
            <a:avLst/>
          </a:prstGeom>
          <a:solidFill>
            <a:srgbClr val="1C1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01568"/>
            <a:ext cx="6583680" cy="1554480"/>
          </a:xfrm>
          <a:prstGeom prst="rect">
            <a:avLst/>
          </a:prstGeom>
          <a:noFill/>
        </p:spPr>
        <p:txBody>
          <a:bodyPr wrap="square" lIns="0" rIns="0" tIns="0" bIns="0">
            <a:spAutoFit/>
          </a:bodyPr>
          <a:lstStyle/>
          <a:p>
            <a:pPr algn="l">
              <a:lnSpc>
                <a:spcPct val="160000"/>
              </a:lnSpc>
            </a:pPr>
            <a:r>
              <a:rPr sz="1600" b="0">
                <a:solidFill>
                  <a:srgbClr val="1C1B18"/>
                </a:solidFill>
                <a:latin typeface="Arial Narrow"/>
              </a:rPr>
              <a:t>Next</a:t>
            </a:r>
          </a:p>
          <a:p>
            <a:pPr algn="l">
              <a:lnSpc>
                <a:spcPct val="160000"/>
              </a:lnSpc>
            </a:pPr>
            <a:r>
              <a:rPr sz="1600" b="0">
                <a:solidFill>
                  <a:srgbClr val="1C1B18"/>
                </a:solidFill>
                <a:latin typeface="Arial Narrow"/>
              </a:rPr>
              <a:t>· ship the benchmark — the standard nobody else publishes</a:t>
            </a:r>
          </a:p>
          <a:p>
            <a:pPr algn="l">
              <a:lnSpc>
                <a:spcPct val="160000"/>
              </a:lnSpc>
            </a:pPr>
            <a:r>
              <a:rPr sz="1600" b="0">
                <a:solidFill>
                  <a:srgbClr val="1C1B18"/>
                </a:solidFill>
                <a:latin typeface="Arial Narrow"/>
              </a:rPr>
              <a:t>· upstream into Strands, LangGraph and OpenHands hook APIs</a:t>
            </a:r>
          </a:p>
          <a:p>
            <a:pPr algn="l">
              <a:lnSpc>
                <a:spcPct val="160000"/>
              </a:lnSpc>
            </a:pPr>
            <a:r>
              <a:rPr sz="1600" b="0">
                <a:solidFill>
                  <a:srgbClr val="1C1B18"/>
                </a:solidFill>
                <a:latin typeface="Arial Narrow"/>
              </a:rPr>
              <a:t>· hosted control plane, wedged on cross-run calibration priors</a:t>
            </a:r>
          </a:p>
        </p:txBody>
      </p:sp>
      <p:sp>
        <p:nvSpPr>
          <p:cNvPr id="23" name="Rectangle 22"/>
          <p:cNvSpPr/>
          <p:nvPr/>
        </p:nvSpPr>
        <p:spPr>
          <a:xfrm>
            <a:off x="7882128" y="3401568"/>
            <a:ext cx="3657600" cy="1783080"/>
          </a:xfrm>
          <a:prstGeom prst="rect">
            <a:avLst/>
          </a:prstGeom>
          <a:solidFill>
            <a:srgbClr val="DCD7C9"/>
          </a:solidFill>
          <a:ln w="9525">
            <a:solidFill>
              <a:srgbClr val="1C1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3621024"/>
            <a:ext cx="3200400" cy="1371600"/>
          </a:xfrm>
          <a:prstGeom prst="rect">
            <a:avLst/>
          </a:prstGeom>
          <a:noFill/>
        </p:spPr>
        <p:txBody>
          <a:bodyPr wrap="square" lIns="0" rIns="0" tIns="0" bIns="0">
            <a:spAutoFit/>
          </a:bodyPr>
          <a:lstStyle/>
          <a:p>
            <a:pPr algn="l">
              <a:lnSpc>
                <a:spcPct val="160000"/>
              </a:lnSpc>
            </a:pPr>
            <a:r>
              <a:rPr sz="1300" b="0">
                <a:solidFill>
                  <a:srgbClr val="4F4B42"/>
                </a:solidFill>
                <a:latin typeface="Consolas"/>
              </a:rPr>
              <a:t>Watch it live</a:t>
            </a:r>
          </a:p>
          <a:p>
            <a:pPr algn="l">
              <a:lnSpc>
                <a:spcPct val="160000"/>
              </a:lnSpc>
            </a:pPr>
            <a:r>
              <a:rPr sz="1300" b="0">
                <a:solidFill>
                  <a:srgbClr val="4F4B42"/>
                </a:solidFill>
                <a:latin typeface="Consolas"/>
              </a:rPr>
              <a:t/>
            </a:r>
          </a:p>
          <a:p>
            <a:pPr algn="l">
              <a:lnSpc>
                <a:spcPct val="160000"/>
              </a:lnSpc>
            </a:pPr>
            <a:r>
              <a:rPr sz="1300" b="0">
                <a:solidFill>
                  <a:srgbClr val="4F4B42"/>
                </a:solidFill>
                <a:latin typeface="Consolas"/>
              </a:rPr>
              <a:t>demo/run_demo.sh</a:t>
            </a:r>
          </a:p>
          <a:p>
            <a:pPr algn="l">
              <a:lnSpc>
                <a:spcPct val="160000"/>
              </a:lnSpc>
            </a:pPr>
            <a:r>
              <a:rPr sz="1300" b="0">
                <a:solidFill>
                  <a:srgbClr val="4F4B42"/>
                </a:solidFill>
                <a:latin typeface="Consolas"/>
              </a:rPr>
              <a:t/>
            </a:r>
          </a:p>
          <a:p>
            <a:pPr algn="l">
              <a:lnSpc>
                <a:spcPct val="160000"/>
              </a:lnSpc>
            </a:pPr>
            <a:r>
              <a:rPr sz="1300" b="0">
                <a:solidFill>
                  <a:srgbClr val="4F4B42"/>
                </a:solidFill>
                <a:latin typeface="Consolas"/>
              </a:rPr>
              <a:t>both agents, one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