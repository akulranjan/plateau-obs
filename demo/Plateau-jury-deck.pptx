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3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2286000"/>
            <a:ext cx="1463040" cy="38100"/>
          </a:xfrm>
          <a:prstGeom prst="rect">
            <a:avLst/>
          </a:prstGeom>
          <a:solidFill>
            <a:srgbClr val="B3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395728"/>
            <a:ext cx="10874959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600" b="1" spc="1672">
                <a:solidFill>
                  <a:srgbClr val="1C1B18"/>
                </a:solidFill>
                <a:latin typeface="Arial Narrow"/>
              </a:rPr>
              <a:t>PLATEAU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913632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0">
                <a:solidFill>
                  <a:srgbClr val="4F4B42"/>
                </a:solidFill>
                <a:latin typeface="Arial Narrow"/>
              </a:rPr>
              <a:t>An agent that gets stuck does not crash. It bills.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846320"/>
            <a:ext cx="10874959" cy="12700"/>
          </a:xfrm>
          <a:prstGeom prst="rect">
            <a:avLst/>
          </a:prstGeom>
          <a:solidFill>
            <a:srgbClr val="1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502920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4F4B42"/>
                </a:solidFill>
                <a:latin typeface="Arial Narrow"/>
              </a:rPr>
              <a:t>A semantic circuit breaker for autonomous agents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4F4B42"/>
                </a:solidFill>
                <a:latin typeface="Arial Narrow"/>
              </a:rPr>
              <a:t>Team ABCD  ·  AI Safety and Observability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22208" y="502920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E695C"/>
                </a:solidFill>
                <a:latin typeface="Consolas"/>
              </a:rPr>
              <a:t>Measured live on two laptops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6E695C"/>
                </a:solidFill>
                <a:latin typeface="Consolas"/>
              </a:rPr>
              <a:t>137 tests  ·  runs fully offline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3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spc="216">
                <a:solidFill>
                  <a:srgbClr val="6E695C"/>
                </a:solidFill>
                <a:latin typeface="Arial Narrow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spc="68">
                <a:solidFill>
                  <a:srgbClr val="1C1B18"/>
                </a:solidFill>
                <a:latin typeface="Arial Narrow"/>
              </a:rPr>
              <a:t>Nothing you already run will catch this.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26464"/>
            <a:ext cx="10874959" cy="19050"/>
          </a:xfrm>
          <a:prstGeom prst="rect">
            <a:avLst/>
          </a:prstGeom>
          <a:solidFill>
            <a:srgbClr val="1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82496"/>
            <a:ext cx="58521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1C1B18"/>
                </a:solidFill>
                <a:latin typeface="Arial Narrow"/>
              </a:rPr>
              <a:t>An agent loops on the same dead end. It rephrases the request, calls the same tool, gets the same non-answer, and tries again.</a:t>
            </a:r>
          </a:p>
          <a:p>
            <a:pPr algn="l">
              <a:lnSpc>
                <a:spcPct val="145000"/>
              </a:lnSpc>
            </a:pPr>
            <a:r>
              <a:rPr sz="1700" b="0">
                <a:solidFill>
                  <a:srgbClr val="1C1B18"/>
                </a:solidFill>
                <a:latin typeface="Arial Narrow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700" b="0">
                <a:solidFill>
                  <a:srgbClr val="1C1B18"/>
                </a:solidFill>
                <a:latin typeface="Arial Narrow"/>
              </a:rPr>
              <a:t>Every call returns 200 OK. Error rate zero. Latency normal. Every dashboard green.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59168" y="1682496"/>
            <a:ext cx="4480560" cy="2286000"/>
          </a:xfrm>
          <a:prstGeom prst="rect">
            <a:avLst/>
          </a:prstGeom>
          <a:solidFill>
            <a:srgbClr val="DCD7C9"/>
          </a:solidFill>
          <a:ln w="9525">
            <a:solidFill>
              <a:srgbClr val="1C1B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42048" y="1865376"/>
            <a:ext cx="4114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4F4B42"/>
                </a:solidFill>
                <a:latin typeface="Consolas"/>
              </a:rPr>
              <a:t>monitoring today answers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4F4B42"/>
                </a:solidFill>
                <a:latin typeface="Consolas"/>
              </a:rPr>
              <a:t>   did the call succeed?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4F4B42"/>
                </a:solidFill>
                <a:latin typeface="Consolas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4F4B42"/>
                </a:solidFill>
                <a:latin typeface="Consolas"/>
              </a:rPr>
              <a:t>nobody answers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4F4B42"/>
                </a:solidFill>
                <a:latin typeface="Consolas"/>
              </a:rPr>
              <a:t>   is the sequence going anywhere?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288536"/>
            <a:ext cx="10874959" cy="12700"/>
          </a:xfrm>
          <a:prstGeom prst="rect">
            <a:avLst/>
          </a:prstGeom>
          <a:solidFill>
            <a:srgbClr val="1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471416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B3221B"/>
                </a:solidFill>
                <a:latin typeface="Arial Narrow"/>
              </a:rPr>
              <a:t>The only thing that eventually notices is the invoice.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3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spc="216">
                <a:solidFill>
                  <a:srgbClr val="6E695C"/>
                </a:solidFill>
                <a:latin typeface="Arial Narrow"/>
              </a:rPr>
              <a:t>THE RESULT — MEASURED, NOT PROJECTED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spc="68">
                <a:solidFill>
                  <a:srgbClr val="1C1B18"/>
                </a:solidFill>
                <a:latin typeface="Arial Narrow"/>
              </a:rPr>
              <a:t>Two laptops. Two real agents. One impossible task.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26464"/>
            <a:ext cx="10874959" cy="19050"/>
          </a:xfrm>
          <a:prstGeom prst="rect">
            <a:avLst/>
          </a:prstGeom>
          <a:solidFill>
            <a:srgbClr val="1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636776"/>
          <a:ext cx="10874957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2481"/>
                <a:gridCol w="2936238"/>
                <a:gridCol w="2936238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E6E3DA"/>
                          </a:solidFill>
                          <a:latin typeface="Arial Narrow"/>
                        </a:rPr>
                        <a:t/>
                      </a:r>
                    </a:p>
                  </a:txBody>
                  <a:tcPr marL="109728" marR="109728" marT="45720" marB="45720">
                    <a:solidFill>
                      <a:srgbClr val="1C1B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E6E3DA"/>
                          </a:solidFill>
                          <a:latin typeface="Arial Narrow"/>
                        </a:rPr>
                        <a:t>Unguarded</a:t>
                      </a:r>
                    </a:p>
                  </a:txBody>
                  <a:tcPr marL="109728" marR="109728" marT="45720" marB="45720">
                    <a:solidFill>
                      <a:srgbClr val="1C1B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E6E3DA"/>
                          </a:solidFill>
                          <a:latin typeface="Arial Narrow"/>
                        </a:rPr>
                        <a:t>With Plateau</a:t>
                      </a:r>
                    </a:p>
                  </a:txBody>
                  <a:tcPr marL="109728" marR="109728" marT="45720" marB="45720">
                    <a:solidFill>
                      <a:srgbClr val="1C1B1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C1B18"/>
                          </a:solidFill>
                          <a:latin typeface="Arial Narrow"/>
                        </a:rPr>
                        <a:t>Turns run</a:t>
                      </a:r>
                    </a:p>
                  </a:txBody>
                  <a:tcPr marL="109728" marR="109728" marT="45720" marB="45720">
                    <a:solidFill>
                      <a:srgbClr val="DCD7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C1B18"/>
                          </a:solidFill>
                          <a:latin typeface="Consolas"/>
                        </a:rPr>
                        <a:t>25</a:t>
                      </a:r>
                    </a:p>
                  </a:txBody>
                  <a:tcPr marL="109728" marR="109728" marT="45720" marB="45720">
                    <a:solidFill>
                      <a:srgbClr val="DCD7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C1B18"/>
                          </a:solidFill>
                          <a:latin typeface="Consolas"/>
                        </a:rPr>
                        <a:t>21</a:t>
                      </a:r>
                    </a:p>
                  </a:txBody>
                  <a:tcPr marL="109728" marR="109728" marT="45720" marB="45720">
                    <a:solidFill>
                      <a:srgbClr val="DCD7C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C1B18"/>
                          </a:solidFill>
                          <a:latin typeface="Arial Narrow"/>
                        </a:rPr>
                        <a:t>Turns refused before reaching a tool</a:t>
                      </a:r>
                    </a:p>
                  </a:txBody>
                  <a:tcPr marL="109728" marR="109728" marT="45720" marB="45720">
                    <a:solidFill>
                      <a:srgbClr val="E6E3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C1B18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109728" marR="109728" marT="45720" marB="45720">
                    <a:solidFill>
                      <a:srgbClr val="E6E3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0E6F52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109728" marR="109728" marT="45720" marB="45720">
                    <a:solidFill>
                      <a:srgbClr val="E6E3D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C1B18"/>
                          </a:solidFill>
                          <a:latin typeface="Arial Narrow"/>
                        </a:rPr>
                        <a:t>Turns spent re-asking a dead question</a:t>
                      </a:r>
                    </a:p>
                  </a:txBody>
                  <a:tcPr marL="109728" marR="109728" marT="45720" marB="45720">
                    <a:solidFill>
                      <a:srgbClr val="DCD7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B3221B"/>
                          </a:solidFill>
                          <a:latin typeface="Consolas"/>
                        </a:rPr>
                        <a:t>18</a:t>
                      </a:r>
                    </a:p>
                  </a:txBody>
                  <a:tcPr marL="109728" marR="109728" marT="45720" marB="45720">
                    <a:solidFill>
                      <a:srgbClr val="DCD7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0E6F52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109728" marR="109728" marT="45720" marB="45720">
                    <a:solidFill>
                      <a:srgbClr val="DCD7C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C1B18"/>
                          </a:solidFill>
                          <a:latin typeface="Arial Narrow"/>
                        </a:rPr>
                        <a:t>Tokens (est., 1,850/turn)</a:t>
                      </a:r>
                    </a:p>
                  </a:txBody>
                  <a:tcPr marL="109728" marR="109728" marT="45720" marB="45720">
                    <a:solidFill>
                      <a:srgbClr val="E6E3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C1B18"/>
                          </a:solidFill>
                          <a:latin typeface="Consolas"/>
                        </a:rPr>
                        <a:t>46,250</a:t>
                      </a:r>
                    </a:p>
                  </a:txBody>
                  <a:tcPr marL="109728" marR="109728" marT="45720" marB="45720">
                    <a:solidFill>
                      <a:srgbClr val="E6E3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C1B18"/>
                          </a:solidFill>
                          <a:latin typeface="Consolas"/>
                        </a:rPr>
                        <a:t>38,850</a:t>
                      </a:r>
                    </a:p>
                  </a:txBody>
                  <a:tcPr marL="109728" marR="109728" marT="45720" marB="45720">
                    <a:solidFill>
                      <a:srgbClr val="E6E3D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C1B18"/>
                          </a:solidFill>
                          <a:latin typeface="Arial Narrow"/>
                        </a:rPr>
                        <a:t>Stopped by</a:t>
                      </a:r>
                    </a:p>
                  </a:txBody>
                  <a:tcPr marL="109728" marR="109728" marT="45720" marB="45720">
                    <a:solidFill>
                      <a:srgbClr val="DCD7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B3221B"/>
                          </a:solidFill>
                          <a:latin typeface="Consolas"/>
                        </a:rPr>
                        <a:t>we stopped it</a:t>
                      </a:r>
                    </a:p>
                  </a:txBody>
                  <a:tcPr marL="109728" marR="109728" marT="45720" marB="45720">
                    <a:solidFill>
                      <a:srgbClr val="DCD7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0E6F52"/>
                          </a:solidFill>
                          <a:latin typeface="Consolas"/>
                        </a:rPr>
                        <a:t>itself, turn 12</a:t>
                      </a:r>
                    </a:p>
                  </a:txBody>
                  <a:tcPr marL="109728" marR="109728" marT="45720" marB="45720">
                    <a:solidFill>
                      <a:srgbClr val="DCD7C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197096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E695C"/>
                </a:solidFill>
                <a:latin typeface="Arial Narrow"/>
              </a:rPr>
              <a:t>Same model, same seed, same tools, same task. The only difference is that the right-hand agent had a breaker attached.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E695C"/>
                </a:solidFill>
                <a:latin typeface="Arial Narrow"/>
              </a:rPr>
              <a:t>The unguarded agent did not finish — it hit a turn cap we imposed. Left alone it does not stop.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5020056"/>
            <a:ext cx="10874959" cy="12700"/>
          </a:xfrm>
          <a:prstGeom prst="rect">
            <a:avLst/>
          </a:prstGeom>
          <a:solidFill>
            <a:srgbClr val="1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202936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C1B18"/>
                </a:solidFill>
                <a:latin typeface="Arial Narrow"/>
              </a:rPr>
              <a:t>67% fewer turns spent going nowhere.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3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spc="216">
                <a:solidFill>
                  <a:srgbClr val="6E695C"/>
                </a:solidFill>
                <a:latin typeface="Arial Narrow"/>
              </a:rPr>
              <a:t>WHICH NUMBER IS HONEST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spc="68">
                <a:solidFill>
                  <a:srgbClr val="1C1B18"/>
                </a:solidFill>
                <a:latin typeface="Arial Narrow"/>
              </a:rPr>
              <a:t>We lead on wasted turns, not tokens.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26464"/>
            <a:ext cx="10874959" cy="19050"/>
          </a:xfrm>
          <a:prstGeom prst="rect">
            <a:avLst/>
          </a:prstGeom>
          <a:solidFill>
            <a:srgbClr val="1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82496"/>
            <a:ext cx="3383280" cy="1170432"/>
          </a:xfrm>
          <a:prstGeom prst="rect">
            <a:avLst/>
          </a:prstGeom>
          <a:solidFill>
            <a:srgbClr val="DCD7C9"/>
          </a:solidFill>
          <a:ln w="9525">
            <a:solidFill>
              <a:srgbClr val="1C1B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810512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spc="147">
                <a:solidFill>
                  <a:srgbClr val="6E695C"/>
                </a:solidFill>
                <a:latin typeface="Arial Narrow"/>
              </a:rPr>
              <a:t>TOKENS SAVED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04825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4F4B42"/>
                </a:solidFill>
                <a:latin typeface="Consolas"/>
              </a:rPr>
              <a:t>16%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551176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F4B42"/>
                </a:solidFill>
                <a:latin typeface="Arial Narrow"/>
              </a:rPr>
              <a:t>diluted — and capped by us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1682496"/>
            <a:ext cx="3383280" cy="1170432"/>
          </a:xfrm>
          <a:prstGeom prst="rect">
            <a:avLst/>
          </a:prstGeom>
          <a:solidFill>
            <a:srgbClr val="DCD7C9"/>
          </a:solidFill>
          <a:ln w="9525">
            <a:solidFill>
              <a:srgbClr val="1C1B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810512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spc="147">
                <a:solidFill>
                  <a:srgbClr val="6E695C"/>
                </a:solidFill>
                <a:latin typeface="Arial Narrow"/>
              </a:rPr>
              <a:t>WASTED TURNS CUT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204825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0E6F52"/>
                </a:solidFill>
                <a:latin typeface="Consolas"/>
              </a:rPr>
              <a:t>67%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2551176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F4B42"/>
                </a:solidFill>
                <a:latin typeface="Arial Narrow"/>
              </a:rPr>
              <a:t>survives the turn cap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3568" y="1682496"/>
            <a:ext cx="3566160" cy="1170432"/>
          </a:xfrm>
          <a:prstGeom prst="rect">
            <a:avLst/>
          </a:prstGeom>
          <a:solidFill>
            <a:srgbClr val="DCD7C9"/>
          </a:solidFill>
          <a:ln w="9525">
            <a:solidFill>
              <a:srgbClr val="1C1B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9872" y="181051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spc="147">
                <a:solidFill>
                  <a:srgbClr val="6E695C"/>
                </a:solidFill>
                <a:latin typeface="Arial Narrow"/>
              </a:rPr>
              <a:t>GUARD OVERHEAD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2" y="2048256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0E6F52"/>
                </a:solidFill>
                <a:latin typeface="Consolas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2" y="2551176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F4B42"/>
                </a:solidFill>
                <a:latin typeface="Arial Narrow"/>
              </a:rPr>
              <a:t>embeddings on refused turns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191256"/>
            <a:ext cx="10874959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1B18"/>
                </a:solidFill>
                <a:latin typeface="Arial Narrow"/>
              </a:rPr>
              <a:t>The token gap understates the result for two reasons, and we would rather say so than quote the bigger-sounding number.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1B18"/>
                </a:solidFill>
                <a:latin typeface="Arial Narrow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1B18"/>
                </a:solidFill>
                <a:latin typeface="Arial Narrow"/>
              </a:rPr>
              <a:t>One — the guarded agent spent its freed turns doing real work, which is the point, not a cost.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1B18"/>
                </a:solidFill>
                <a:latin typeface="Arial Narrow"/>
              </a:rPr>
              <a:t>Two — the unguarded agent's total is bounded only by a cap we imposed. Its real number is unbounded.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3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spc="216">
                <a:solidFill>
                  <a:srgbClr val="6E695C"/>
                </a:solidFill>
                <a:latin typeface="Arial Narrow"/>
              </a:rPr>
              <a:t>IT DOES NOT JUST STOP THE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spc="68">
                <a:solidFill>
                  <a:srgbClr val="1C1B18"/>
                </a:solidFill>
                <a:latin typeface="Arial Narrow"/>
              </a:rPr>
              <a:t>It says why, and where to go instead.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26464"/>
            <a:ext cx="10874959" cy="19050"/>
          </a:xfrm>
          <a:prstGeom prst="rect">
            <a:avLst/>
          </a:prstGeom>
          <a:solidFill>
            <a:srgbClr val="1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82496"/>
            <a:ext cx="10874959" cy="2286000"/>
          </a:xfrm>
          <a:prstGeom prst="rect">
            <a:avLst/>
          </a:prstGeom>
          <a:solidFill>
            <a:srgbClr val="DCD7C9"/>
          </a:solidFill>
          <a:ln w="9525">
            <a:solidFill>
              <a:srgbClr val="B32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47088"/>
            <a:ext cx="104177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spc="216">
                <a:solidFill>
                  <a:srgbClr val="B3221B"/>
                </a:solidFill>
                <a:latin typeface="Arial Narrow"/>
              </a:rPr>
              <a:t>BREAKER OPEN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157984"/>
            <a:ext cx="104177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1C1B18"/>
                </a:solidFill>
                <a:latin typeface="Consolas"/>
              </a:rPr>
              <a:t>The same question is being asked repeatedly and the answers are not new. Change the source or the approach, not the wording.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1C1B18"/>
                </a:solidFill>
                <a:latin typeface="Consolas"/>
              </a:rPr>
              <a:t>action_sim 1.000 &gt;= ceiling 0.761;  obs_novelty 0.000 &lt; floor 0.30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980944"/>
            <a:ext cx="104177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8A5F0B"/>
                </a:solidFill>
                <a:latin typeface="Consolas"/>
              </a:rPr>
              <a:t>Escape: turn 15 produced the most new information in this run (novelty 0.896). Return to that result and build on it instead of re-asking.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197096"/>
            <a:ext cx="1087495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1C1B18"/>
                </a:solidFill>
                <a:latin typeface="Arial Narrow"/>
              </a:rPr>
              <a:t>A step cap can only say "stop". This is the difference between an alert and a diagnosis — the agent is handed a reason and a next move, in its own context, and can act on both.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3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spc="216">
                <a:solidFill>
                  <a:srgbClr val="6E695C"/>
                </a:solidFill>
                <a:latin typeface="Arial Narrow"/>
              </a:rPr>
              <a:t>WHY NOT JUST CAP THE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spc="68">
                <a:solidFill>
                  <a:srgbClr val="1C1B18"/>
                </a:solidFill>
                <a:latin typeface="Arial Narrow"/>
              </a:rPr>
              <a:t>A cap is wrong in both directions.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26464"/>
            <a:ext cx="10874959" cy="19050"/>
          </a:xfrm>
          <a:prstGeom prst="rect">
            <a:avLst/>
          </a:prstGeom>
          <a:solidFill>
            <a:srgbClr val="1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636776"/>
          <a:ext cx="10874958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486"/>
                <a:gridCol w="3588736"/>
                <a:gridCol w="3588736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E6E3DA"/>
                          </a:solidFill>
                          <a:latin typeface="Arial Narrow"/>
                        </a:rPr>
                        <a:t>Approach</a:t>
                      </a:r>
                    </a:p>
                  </a:txBody>
                  <a:tcPr marL="109728" marR="109728" marT="45720" marB="45720">
                    <a:solidFill>
                      <a:srgbClr val="1C1B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E6E3DA"/>
                          </a:solidFill>
                          <a:latin typeface="Arial Narrow"/>
                        </a:rPr>
                        <a:t>Catches the stall</a:t>
                      </a:r>
                    </a:p>
                  </a:txBody>
                  <a:tcPr marL="109728" marR="109728" marT="45720" marB="45720">
                    <a:solidFill>
                      <a:srgbClr val="1C1B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E6E3DA"/>
                          </a:solidFill>
                          <a:latin typeface="Arial Narrow"/>
                        </a:rPr>
                        <a:t>False-trips healthy work</a:t>
                      </a:r>
                    </a:p>
                  </a:txBody>
                  <a:tcPr marL="109728" marR="109728" marT="45720" marB="45720">
                    <a:solidFill>
                      <a:srgbClr val="1C1B1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C1B18"/>
                          </a:solidFill>
                          <a:latin typeface="Arial Narrow"/>
                        </a:rPr>
                        <a:t>Step cap at 25</a:t>
                      </a:r>
                    </a:p>
                  </a:txBody>
                  <a:tcPr marL="109728" marR="109728" marT="45720" marB="45720">
                    <a:solidFill>
                      <a:srgbClr val="DCD7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C1B18"/>
                          </a:solidFill>
                          <a:latin typeface="Consolas"/>
                        </a:rPr>
                        <a:t>at turn 27 — too late</a:t>
                      </a:r>
                    </a:p>
                  </a:txBody>
                  <a:tcPr marL="109728" marR="109728" marT="45720" marB="45720">
                    <a:solidFill>
                      <a:srgbClr val="DCD7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B3221B"/>
                          </a:solidFill>
                          <a:latin typeface="Consolas"/>
                        </a:rPr>
                        <a:t>yes</a:t>
                      </a:r>
                    </a:p>
                  </a:txBody>
                  <a:tcPr marL="109728" marR="109728" marT="45720" marB="45720">
                    <a:solidFill>
                      <a:srgbClr val="DCD7C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C1B18"/>
                          </a:solidFill>
                          <a:latin typeface="Arial Narrow"/>
                        </a:rPr>
                        <a:t>Any-repeat detector</a:t>
                      </a:r>
                    </a:p>
                  </a:txBody>
                  <a:tcPr marL="109728" marR="109728" marT="45720" marB="45720">
                    <a:solidFill>
                      <a:srgbClr val="E6E3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C1B18"/>
                          </a:solidFill>
                          <a:latin typeface="Consolas"/>
                        </a:rPr>
                        <a:t>at turn 5</a:t>
                      </a:r>
                    </a:p>
                  </a:txBody>
                  <a:tcPr marL="109728" marR="109728" marT="45720" marB="45720">
                    <a:solidFill>
                      <a:srgbClr val="E6E3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B3221B"/>
                          </a:solidFill>
                          <a:latin typeface="Consolas"/>
                        </a:rPr>
                        <a:t>yes, everything</a:t>
                      </a:r>
                    </a:p>
                  </a:txBody>
                  <a:tcPr marL="109728" marR="109728" marT="45720" marB="45720">
                    <a:solidFill>
                      <a:srgbClr val="E6E3D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C1B18"/>
                          </a:solidFill>
                          <a:latin typeface="Arial Narrow"/>
                        </a:rPr>
                        <a:t>Exact-match detector</a:t>
                      </a:r>
                    </a:p>
                  </a:txBody>
                  <a:tcPr marL="109728" marR="109728" marT="45720" marB="45720">
                    <a:solidFill>
                      <a:srgbClr val="DCD7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B3221B"/>
                          </a:solidFill>
                          <a:latin typeface="Consolas"/>
                        </a:rPr>
                        <a:t>never fires</a:t>
                      </a:r>
                    </a:p>
                  </a:txBody>
                  <a:tcPr marL="109728" marR="109728" marT="45720" marB="45720">
                    <a:solidFill>
                      <a:srgbClr val="DCD7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C1B18"/>
                          </a:solidFill>
                          <a:latin typeface="Consolas"/>
                        </a:rPr>
                        <a:t>no</a:t>
                      </a:r>
                    </a:p>
                  </a:txBody>
                  <a:tcPr marL="109728" marR="109728" marT="45720" marB="45720">
                    <a:solidFill>
                      <a:srgbClr val="DCD7C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C1B18"/>
                          </a:solidFill>
                          <a:latin typeface="Arial Narrow"/>
                        </a:rPr>
                        <a:t>Plateau</a:t>
                      </a:r>
                    </a:p>
                  </a:txBody>
                  <a:tcPr marL="109728" marR="109728" marT="45720" marB="45720">
                    <a:solidFill>
                      <a:srgbClr val="E6E3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0E6F52"/>
                          </a:solidFill>
                          <a:latin typeface="Consolas"/>
                        </a:rPr>
                        <a:t>at turn 12</a:t>
                      </a:r>
                    </a:p>
                  </a:txBody>
                  <a:tcPr marL="109728" marR="109728" marT="45720" marB="45720">
                    <a:solidFill>
                      <a:srgbClr val="E6E3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0E6F52"/>
                          </a:solidFill>
                          <a:latin typeface="Consolas"/>
                        </a:rPr>
                        <a:t>no</a:t>
                      </a:r>
                    </a:p>
                  </a:txBody>
                  <a:tcPr marL="109728" marR="109728" marT="45720" marB="45720">
                    <a:solidFill>
                      <a:srgbClr val="E6E3D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3831336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E695C"/>
                </a:solidFill>
                <a:latin typeface="Arial Narrow"/>
              </a:rPr>
              <a:t>Measured over five 16-61 turn traces, in metrics.json. Healthy work means a batch job that legitimately repeats the same call on new data — an invoice run, a poller. Stopping those is worse than never having a detector.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654296"/>
            <a:ext cx="10874959" cy="12700"/>
          </a:xfrm>
          <a:prstGeom prst="rect">
            <a:avLst/>
          </a:prstGeom>
          <a:solidFill>
            <a:srgbClr val="1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837176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1C1B18"/>
                </a:solidFill>
                <a:latin typeface="Arial Narrow"/>
              </a:rPr>
              <a:t>It also recovers. Tripped at 12, found new information at 14, resumed, and only</a:t>
            </a:r>
          </a:p>
          <a:p>
            <a:pPr algn="l">
              <a:lnSpc>
                <a:spcPct val="140000"/>
              </a:lnSpc>
            </a:pPr>
            <a:r>
              <a:rPr sz="1700" b="0">
                <a:solidFill>
                  <a:srgbClr val="1C1B18"/>
                </a:solidFill>
                <a:latin typeface="Arial Narrow"/>
              </a:rPr>
              <a:t>re-opened when the agent stalled a second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3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spc="216">
                <a:solidFill>
                  <a:srgbClr val="6E695C"/>
                </a:solidFill>
                <a:latin typeface="Arial Narrow"/>
              </a:rPr>
              <a:t>ADOPTION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spc="68">
                <a:solidFill>
                  <a:srgbClr val="1C1B18"/>
                </a:solidFill>
                <a:latin typeface="Arial Narrow"/>
              </a:rPr>
              <a:t>Two hooks around a tool call.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26464"/>
            <a:ext cx="10874959" cy="19050"/>
          </a:xfrm>
          <a:prstGeom prst="rect">
            <a:avLst/>
          </a:prstGeom>
          <a:solidFill>
            <a:srgbClr val="1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82496"/>
            <a:ext cx="5852160" cy="2697480"/>
          </a:xfrm>
          <a:prstGeom prst="rect">
            <a:avLst/>
          </a:prstGeom>
          <a:solidFill>
            <a:srgbClr val="DCD7C9"/>
          </a:solidFill>
          <a:ln w="9525">
            <a:solidFill>
              <a:srgbClr val="1C1B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883664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1B18"/>
                </a:solidFill>
                <a:latin typeface="Consolas"/>
              </a:rPr>
              <a:t>before_tool(action)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1B18"/>
                </a:solidFill>
                <a:latin typeface="Consolas"/>
              </a:rPr>
              <a:t>    veto, once the breaker is open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1B18"/>
                </a:solidFill>
                <a:latin typeface="Consolas"/>
              </a:rPr>
              <a:t>    costs nothing while closed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1B18"/>
                </a:solidFill>
                <a:latin typeface="Consola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1B18"/>
                </a:solidFill>
                <a:latin typeface="Consolas"/>
              </a:rPr>
              <a:t>after_tool(action, observation)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1B18"/>
                </a:solidFill>
                <a:latin typeface="Consolas"/>
              </a:rPr>
              <a:t>    score the completed turn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1B18"/>
                </a:solidFill>
                <a:latin typeface="Consolas"/>
              </a:rPr>
              <a:t>    this is the call that embeds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59168" y="1682496"/>
            <a:ext cx="44805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1B18"/>
                </a:solidFill>
                <a:latin typeface="Arial Narrow"/>
              </a:rPr>
              <a:t>That is the whole surface. It is the same shape as a LangChain callback pair or a Strands BeforeToolCall / AfterToolCall adapter.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1B18"/>
                </a:solidFill>
                <a:latin typeface="Arial Narrow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C1B18"/>
                </a:solidFill>
                <a:latin typeface="Arial Narrow"/>
              </a:rPr>
              <a:t>Working LangGraph example in the repo: the agent logic does not know it is being watched.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562856"/>
            <a:ext cx="10874959" cy="12700"/>
          </a:xfrm>
          <a:prstGeom prst="rect">
            <a:avLst/>
          </a:prstGeom>
          <a:solidFill>
            <a:srgbClr val="1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745736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C1B18"/>
                </a:solidFill>
                <a:latin typeface="Arial Narrow"/>
              </a:rPr>
              <a:t>No retraining. No proxy. No vendor lock. Runs entirely offline.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3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spc="216">
                <a:solidFill>
                  <a:srgbClr val="6E695C"/>
                </a:solidFill>
                <a:latin typeface="Arial Narrow"/>
              </a:rPr>
              <a:t>WHAT WE MEASURED THAT DID NOT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spc="68">
                <a:solidFill>
                  <a:srgbClr val="1C1B18"/>
                </a:solidFill>
                <a:latin typeface="Arial Narrow"/>
              </a:rPr>
              <a:t>Three findings we are not hiding.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26464"/>
            <a:ext cx="10874959" cy="19050"/>
          </a:xfrm>
          <a:prstGeom prst="rect">
            <a:avLst/>
          </a:prstGeom>
          <a:solidFill>
            <a:srgbClr val="1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82496"/>
            <a:ext cx="457200" cy="31750"/>
          </a:xfrm>
          <a:prstGeom prst="rect">
            <a:avLst/>
          </a:prstGeom>
          <a:solidFill>
            <a:srgbClr val="B3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28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C1B18"/>
                </a:solidFill>
                <a:latin typeface="Arial Narrow"/>
              </a:rPr>
              <a:t>It does not catch a reworded stall.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57984"/>
            <a:ext cx="1050919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4F4B42"/>
                </a:solidFill>
                <a:latin typeface="Arial Narrow"/>
              </a:rPr>
              <a:t>Differently-worded non-answers score 0.44-1.01 novelty; none fall below the floor. It works here because real search APIs return a consistent no-results string.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761488"/>
            <a:ext cx="457200" cy="31750"/>
          </a:xfrm>
          <a:prstGeom prst="rect">
            <a:avLst/>
          </a:prstGeom>
          <a:solidFill>
            <a:srgbClr val="B3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90779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C1B18"/>
                </a:solidFill>
                <a:latin typeface="Arial Narrow"/>
              </a:rPr>
              <a:t>A lexical baseline matches our recall.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236976"/>
            <a:ext cx="1050919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4F4B42"/>
                </a:solidFill>
                <a:latin typeface="Arial Narrow"/>
              </a:rPr>
              <a:t>On current traces it matches recall with no false trips and detects sooner. Our defensible claim is the one above: we hold on healthy repetitive work.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840480"/>
            <a:ext cx="457200" cy="31750"/>
          </a:xfrm>
          <a:prstGeom prst="rect">
            <a:avLst/>
          </a:prstGeom>
          <a:solidFill>
            <a:srgbClr val="B3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98678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C1B18"/>
                </a:solidFill>
                <a:latin typeface="Arial Narrow"/>
              </a:rPr>
              <a:t>One of our two dials earns its keep; the other has not yet.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315968"/>
            <a:ext cx="1050919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4F4B42"/>
                </a:solidFill>
                <a:latin typeface="Arial Narrow"/>
              </a:rPr>
              <a:t>Ablating action-similarity changes detection on none of the five trace classes — only how fast. We report it rather than describe a two-dial design we cannot evidence.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965192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E695C"/>
                </a:solidFill>
                <a:latin typeface="Arial Narrow"/>
              </a:rPr>
              <a:t>Every one of these is measured in the repo's own metrics.json. A demo whose numbers contradict its repository is the one thing a judge who opens it will find.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3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spc="216">
                <a:solidFill>
                  <a:srgbClr val="6E695C"/>
                </a:solidFill>
                <a:latin typeface="Arial Narrow"/>
              </a:rPr>
              <a:t>WHERE IT STANDS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spc="68">
                <a:solidFill>
                  <a:srgbClr val="1C1B18"/>
                </a:solidFill>
                <a:latin typeface="Arial Narrow"/>
              </a:rPr>
              <a:t>Built, measured, and running.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26464"/>
            <a:ext cx="10874959" cy="19050"/>
          </a:xfrm>
          <a:prstGeom prst="rect">
            <a:avLst/>
          </a:prstGeom>
          <a:solidFill>
            <a:srgbClr val="1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82496"/>
            <a:ext cx="2615184" cy="1170432"/>
          </a:xfrm>
          <a:prstGeom prst="rect">
            <a:avLst/>
          </a:prstGeom>
          <a:solidFill>
            <a:srgbClr val="DCD7C9"/>
          </a:solidFill>
          <a:ln w="9525">
            <a:solidFill>
              <a:srgbClr val="1C1B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810512"/>
            <a:ext cx="234086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spc="147">
                <a:solidFill>
                  <a:srgbClr val="6E695C"/>
                </a:solidFill>
                <a:latin typeface="Arial Narrow"/>
              </a:rPr>
              <a:t>TESTS PASSING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048256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C1B18"/>
                </a:solidFill>
                <a:latin typeface="Consolas"/>
              </a:rPr>
              <a:t>137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551176"/>
            <a:ext cx="23408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F4B42"/>
                </a:solidFill>
                <a:latin typeface="Arial Narrow"/>
              </a:rPr>
              <a:t>including the live demo stack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456432" y="1682496"/>
            <a:ext cx="2615184" cy="1170432"/>
          </a:xfrm>
          <a:prstGeom prst="rect">
            <a:avLst/>
          </a:prstGeom>
          <a:solidFill>
            <a:srgbClr val="DCD7C9"/>
          </a:solidFill>
          <a:ln w="9525">
            <a:solidFill>
              <a:srgbClr val="1C1B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2736" y="1810512"/>
            <a:ext cx="234086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spc="147">
                <a:solidFill>
                  <a:srgbClr val="6E695C"/>
                </a:solidFill>
                <a:latin typeface="Arial Narrow"/>
              </a:rPr>
              <a:t>MACHINES PROVEN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2736" y="2048256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0E6F52"/>
                </a:solidFill>
                <a:latin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2736" y="2551176"/>
            <a:ext cx="23408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F4B42"/>
                </a:solidFill>
                <a:latin typeface="Arial Narrow"/>
              </a:rPr>
              <a:t>Fedora + macOS, over LAN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4496" y="1682496"/>
            <a:ext cx="2615184" cy="1170432"/>
          </a:xfrm>
          <a:prstGeom prst="rect">
            <a:avLst/>
          </a:prstGeom>
          <a:solidFill>
            <a:srgbClr val="DCD7C9"/>
          </a:solidFill>
          <a:ln w="9525">
            <a:solidFill>
              <a:srgbClr val="1C1B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10512"/>
            <a:ext cx="234086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spc="147">
                <a:solidFill>
                  <a:srgbClr val="6E695C"/>
                </a:solidFill>
                <a:latin typeface="Arial Narrow"/>
              </a:rPr>
              <a:t>EXTERNAL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48256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0E6F52"/>
                </a:solidFill>
                <a:latin typeface="Consolas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51176"/>
            <a:ext cx="23408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F4B42"/>
                </a:solidFill>
                <a:latin typeface="Arial Narrow"/>
              </a:rPr>
              <a:t>no cloud, no API key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682496"/>
            <a:ext cx="2615184" cy="1170432"/>
          </a:xfrm>
          <a:prstGeom prst="rect">
            <a:avLst/>
          </a:prstGeom>
          <a:solidFill>
            <a:srgbClr val="DCD7C9"/>
          </a:solidFill>
          <a:ln w="9525">
            <a:solidFill>
              <a:srgbClr val="1C1B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98864" y="1810512"/>
            <a:ext cx="234086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spc="147">
                <a:solidFill>
                  <a:srgbClr val="6E695C"/>
                </a:solidFill>
                <a:latin typeface="Arial Narrow"/>
              </a:rPr>
              <a:t>INTEGRATION SURFACE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4" y="2048256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0E6F52"/>
                </a:solidFill>
                <a:latin typeface="Consolas"/>
              </a:rPr>
              <a:t>2 hooks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8864" y="2551176"/>
            <a:ext cx="23408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F4B42"/>
                </a:solidFill>
                <a:latin typeface="Arial Narrow"/>
              </a:rPr>
              <a:t>around any tool call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91256"/>
            <a:ext cx="10874959" cy="12700"/>
          </a:xfrm>
          <a:prstGeom prst="rect">
            <a:avLst/>
          </a:prstGeom>
          <a:solidFill>
            <a:srgbClr val="1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401568"/>
            <a:ext cx="6400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0">
                <a:solidFill>
                  <a:srgbClr val="1C1B18"/>
                </a:solidFill>
                <a:latin typeface="Arial Narrow"/>
              </a:rPr>
              <a:t>Next</a:t>
            </a:r>
          </a:p>
          <a:p>
            <a:pPr algn="l">
              <a:lnSpc>
                <a:spcPct val="160000"/>
              </a:lnSpc>
            </a:pPr>
            <a:r>
              <a:rPr sz="1600" b="0">
                <a:solidFill>
                  <a:srgbClr val="1C1B18"/>
                </a:solidFill>
                <a:latin typeface="Arial Narrow"/>
              </a:rPr>
              <a:t>· a trace class where the second dial earns its place, or drop it</a:t>
            </a:r>
          </a:p>
          <a:p>
            <a:pPr algn="l">
              <a:lnSpc>
                <a:spcPct val="160000"/>
              </a:lnSpc>
            </a:pPr>
            <a:r>
              <a:rPr sz="1600" b="0">
                <a:solidFill>
                  <a:srgbClr val="1C1B18"/>
                </a:solidFill>
                <a:latin typeface="Arial Narrow"/>
              </a:rPr>
              <a:t>· paraphrase-robust novelty, the one gap we have measured and named</a:t>
            </a:r>
          </a:p>
          <a:p>
            <a:pPr algn="l">
              <a:lnSpc>
                <a:spcPct val="160000"/>
              </a:lnSpc>
            </a:pPr>
            <a:r>
              <a:rPr sz="1600" b="0">
                <a:solidFill>
                  <a:srgbClr val="1C1B18"/>
                </a:solidFill>
                <a:latin typeface="Arial Narrow"/>
              </a:rPr>
              <a:t>· adapters shipped for LangGraph and Strands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99248" y="3401568"/>
            <a:ext cx="3840480" cy="1783080"/>
          </a:xfrm>
          <a:prstGeom prst="rect">
            <a:avLst/>
          </a:prstGeom>
          <a:solidFill>
            <a:srgbClr val="DCD7C9"/>
          </a:solidFill>
          <a:ln w="9525">
            <a:solidFill>
              <a:srgbClr val="1C1B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82128" y="3602736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>
                <a:solidFill>
                  <a:srgbClr val="4F4B42"/>
                </a:solidFill>
                <a:latin typeface="Consolas"/>
              </a:rPr>
              <a:t>Watch it live</a:t>
            </a: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4F4B42"/>
                </a:solidFill>
                <a:latin typeface="Consolas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4F4B42"/>
                </a:solidFill>
                <a:latin typeface="Consolas"/>
              </a:rPr>
              <a:t>demo/run_demo.sh</a:t>
            </a: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4F4B42"/>
                </a:solidFill>
                <a:latin typeface="Consolas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4F4B42"/>
                </a:solidFill>
                <a:latin typeface="Consolas"/>
              </a:rPr>
              <a:t>both agents, one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